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3"/>
    <p:sldId id="268" r:id="rId4"/>
    <p:sldId id="269" r:id="rId5"/>
    <p:sldId id="270" r:id="rId6"/>
    <p:sldId id="278" r:id="rId7"/>
    <p:sldId id="277" r:id="rId8"/>
    <p:sldId id="279" r:id="rId9"/>
  </p:sldIdLst>
  <p:sldSz cx="10160000" cy="5715000"/>
  <p:notesSz cx="6648450" cy="985012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8" userDrawn="1">
          <p15:clr>
            <a:srgbClr val="A4A3A4"/>
          </p15:clr>
        </p15:guide>
        <p15:guide id="2" orient="horz" pos="3375" userDrawn="1">
          <p15:clr>
            <a:srgbClr val="A4A3A4"/>
          </p15:clr>
        </p15:guide>
        <p15:guide id="3" orient="horz" pos="39" userDrawn="1">
          <p15:clr>
            <a:srgbClr val="A4A3A4"/>
          </p15:clr>
        </p15:guide>
        <p15:guide id="4" orient="horz" pos="655" userDrawn="1">
          <p15:clr>
            <a:srgbClr val="A4A3A4"/>
          </p15:clr>
        </p15:guide>
        <p15:guide id="5" orient="horz" pos="425" userDrawn="1">
          <p15:clr>
            <a:srgbClr val="A4A3A4"/>
          </p15:clr>
        </p15:guide>
        <p15:guide id="6" orient="horz" pos="3520" userDrawn="1">
          <p15:clr>
            <a:srgbClr val="A4A3A4"/>
          </p15:clr>
        </p15:guide>
        <p15:guide id="9" pos="3174" userDrawn="1">
          <p15:clr>
            <a:srgbClr val="A4A3A4"/>
          </p15:clr>
        </p15:guide>
        <p15:guide id="8" pos="6073" userDrawn="1">
          <p15:clr>
            <a:srgbClr val="A4A3A4"/>
          </p15:clr>
        </p15:guide>
        <p15:guide id="10" pos="1032" userDrawn="1">
          <p15:clr>
            <a:srgbClr val="A4A3A4"/>
          </p15:clr>
        </p15:guide>
        <p15:guide id="11" pos="2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8D3D6"/>
    <a:srgbClr val="7D001E"/>
    <a:srgbClr val="640014"/>
    <a:srgbClr val="960000"/>
    <a:srgbClr val="696969"/>
    <a:srgbClr val="DC0000"/>
    <a:srgbClr val="960028"/>
    <a:srgbClr val="BD003B"/>
    <a:srgbClr val="DBE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0" d="100"/>
          <a:sy n="70" d="100"/>
        </p:scale>
        <p:origin x="956" y="64"/>
      </p:cViewPr>
      <p:guideLst>
        <p:guide orient="horz" pos="918"/>
        <p:guide orient="horz" pos="3375"/>
        <p:guide orient="horz" pos="39"/>
        <p:guide orient="horz" pos="655"/>
        <p:guide orient="horz" pos="425"/>
        <p:guide orient="horz" pos="3520"/>
        <p:guide pos="3174"/>
        <p:guide pos="6073"/>
        <p:guide pos="1032"/>
        <p:guide pos="28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82"/>
        <p:guide pos="207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6645887518025"/>
          <c:y val="0.196286065641919"/>
          <c:w val="0.665818268923969"/>
          <c:h val="0.76037497968001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9CA3AF"/>
              </a:solidFill>
              <a:ln w="9525" cap="flat" cmpd="sng" algn="ctr">
                <a:solidFill>
                  <a:srgbClr val="9CA3AF"/>
                </a:solidFill>
                <a:prstDash val="solid"/>
                <a:round/>
              </a:ln>
            </c:spPr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ln w="9525" cap="flat" cmpd="sng" algn="ctr">
                <a:solidFill>
                  <a:srgbClr val="22C55E"/>
                </a:solidFill>
                <a:prstDash val="solid"/>
                <a:round/>
              </a:ln>
            </c:spPr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800" b="1" i="0" u="none" strike="noStrike" kern="1200" baseline="0">
                        <a:solidFill>
                          <a:schemeClr val="tx1"/>
                        </a:solidFill>
                        <a:latin typeface="Aptos"/>
                        <a:ea typeface="+mn-ea"/>
                        <a:cs typeface="+mn-cs"/>
                      </a:defRPr>
                    </a:pPr>
                    <a:r>
                      <a:t>10</a:t>
                    </a: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800" b="1" i="0" u="none" strike="noStrike" kern="1200" baseline="0">
                      <a:solidFill>
                        <a:schemeClr val="tx1"/>
                      </a:solidFill>
                      <a:latin typeface="Aptos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800" b="1" i="0" u="none" strike="noStrike" kern="1200" baseline="0">
                        <a:solidFill>
                          <a:schemeClr val="tx1"/>
                        </a:solidFill>
                        <a:latin typeface="Aptos"/>
                        <a:ea typeface="+mn-ea"/>
                        <a:cs typeface="+mn-cs"/>
                      </a:defRPr>
                    </a:pPr>
                    <a:r>
                      <a:t>1</a:t>
                    </a: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800" b="1" i="0" u="none" strike="noStrike" kern="1200" baseline="0">
                      <a:solidFill>
                        <a:schemeClr val="tx1"/>
                      </a:solidFill>
                      <a:latin typeface="Aptos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Aptos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Manual process</c:v>
                </c:pt>
                <c:pt idx="1">
                  <c:v>Automated process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 w="9525" cap="flat" cmpd="sng" algn="ctr">
            <a:solidFill>
              <a:srgbClr val="F8FAF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1F2937"/>
                </a:solidFill>
                <a:latin typeface="Aptos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5"/>
          <c:min val="0"/>
        </c:scaling>
        <c:delete val="0"/>
        <c:axPos val="t"/>
        <c:majorGridlines>
          <c:spPr>
            <a:ln w="9525" cap="flat" cmpd="sng" algn="ctr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en-US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000" b="0"/>
                  <a:t>Minutes</a:t>
                </a:r>
                <a:endParaRPr sz="1000" b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 cap="flat" cmpd="sng" algn="ctr">
            <a:solidFill>
              <a:srgbClr val="E5E7EB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6B7280"/>
                </a:solidFill>
                <a:latin typeface="Aptos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4b60b151-6250-4ae6-a853-8f49a561d5b7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>
            <a:lvl1pPr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5917" y="0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EC345535-AF3F-4D13-83AC-666A27668071}" type="datetime1">
              <a:rPr lang="de-DE" smtClean="0"/>
            </a:fld>
            <a:endParaRPr lang="de-DE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356207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b" anchorCtr="0" compatLnSpc="1"/>
          <a:lstStyle>
            <a:lvl1pPr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5917" y="9356207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1AC0386C-7505-488B-926D-937D76EB9CDE}" type="slidenum">
              <a:rPr lang="de-DE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>
            <a:lvl1pPr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5917" y="0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64B208A8-9644-44A7-92E1-5EE79CE6CDB0}" type="datetime1">
              <a:rPr lang="de-DE" smtClean="0"/>
            </a:fld>
            <a:endParaRPr lang="de-DE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2863" y="739775"/>
            <a:ext cx="6562725" cy="3692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4845" y="4678958"/>
            <a:ext cx="5318760" cy="4432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/>
          <a:p>
            <a:pPr lvl="0"/>
            <a:r>
              <a:rPr lang="de-DE" noProof="0"/>
              <a:t>Textmasterformate durch Klicken bearbeiten</a:t>
            </a:r>
            <a:endParaRPr lang="de-DE" noProof="0"/>
          </a:p>
          <a:p>
            <a:pPr lvl="1"/>
            <a:r>
              <a:rPr lang="de-DE" noProof="0"/>
              <a:t>Zweite Ebene</a:t>
            </a:r>
            <a:endParaRPr lang="de-DE" noProof="0"/>
          </a:p>
          <a:p>
            <a:pPr lvl="2"/>
            <a:r>
              <a:rPr lang="de-DE" noProof="0"/>
              <a:t>Dritte Ebene</a:t>
            </a:r>
            <a:endParaRPr lang="de-DE" noProof="0"/>
          </a:p>
          <a:p>
            <a:pPr lvl="3"/>
            <a:r>
              <a:rPr lang="de-DE" noProof="0"/>
              <a:t>Vierte Ebene</a:t>
            </a:r>
            <a:endParaRPr lang="de-DE" noProof="0"/>
          </a:p>
          <a:p>
            <a:pPr lvl="4"/>
            <a:r>
              <a:rPr lang="de-DE" noProof="0"/>
              <a:t>Fünfte Ebene</a:t>
            </a:r>
            <a:endParaRPr lang="de-DE" noProof="0"/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356207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b" anchorCtr="0" compatLnSpc="1"/>
          <a:lstStyle>
            <a:lvl1pPr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5917" y="9356207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BC72A1BE-0E9C-48B4-B648-3C26A6064B17}" type="slidenum">
              <a:rPr lang="de-DE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ヒラギノ角ゴ Pro W3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1456000" y="676276"/>
            <a:ext cx="8704000" cy="5042693"/>
          </a:xfrm>
          <a:prstGeom prst="rect">
            <a:avLst/>
          </a:prstGeom>
          <a:gradFill>
            <a:gsLst>
              <a:gs pos="20000">
                <a:srgbClr val="7D001E"/>
              </a:gs>
              <a:gs pos="100000">
                <a:srgbClr val="DC0000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1559612" y="3397727"/>
            <a:ext cx="8083570" cy="359874"/>
          </a:xfrm>
          <a:prstGeom prst="rect">
            <a:avLst/>
          </a:prstGeom>
          <a:ln w="0">
            <a:noFill/>
            <a:prstDash val="solid"/>
          </a:ln>
          <a:effectLst/>
        </p:spPr>
        <p:txBody>
          <a:bodyPr/>
          <a:lstStyle>
            <a:lvl1pPr marL="0" indent="0">
              <a:spcBef>
                <a:spcPts val="0"/>
              </a:spcBef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Occasion D</a:t>
            </a:r>
            <a:r>
              <a:rPr lang="en-US" altLang="zh-CN"/>
              <a:t>ate</a:t>
            </a:r>
            <a:endParaRPr lang="de-DE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1559609" y="3757085"/>
            <a:ext cx="8080898" cy="96062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440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Title</a:t>
            </a:r>
            <a:endParaRPr lang="de-DE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1559278" y="5318125"/>
            <a:ext cx="8081229" cy="35968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Autor</a:t>
            </a:r>
            <a:endParaRPr lang="de-DE"/>
          </a:p>
        </p:txBody>
      </p:sp>
      <p:grpSp>
        <p:nvGrpSpPr>
          <p:cNvPr id="8" name="Gruppieren 7"/>
          <p:cNvGrpSpPr/>
          <p:nvPr userDrawn="1"/>
        </p:nvGrpSpPr>
        <p:grpSpPr>
          <a:xfrm>
            <a:off x="0" y="676276"/>
            <a:ext cx="1456000" cy="5042693"/>
            <a:chOff x="0" y="898525"/>
            <a:chExt cx="1310400" cy="5964238"/>
          </a:xfrm>
        </p:grpSpPr>
        <p:sp>
          <p:nvSpPr>
            <p:cNvPr id="9" name="Rechteck 8"/>
            <p:cNvSpPr/>
            <p:nvPr/>
          </p:nvSpPr>
          <p:spPr>
            <a:xfrm>
              <a:off x="0" y="898525"/>
              <a:ext cx="864000" cy="5964238"/>
            </a:xfrm>
            <a:prstGeom prst="rect">
              <a:avLst/>
            </a:prstGeom>
            <a:gradFill>
              <a:gsLst>
                <a:gs pos="20000">
                  <a:srgbClr val="7D001E"/>
                </a:gs>
                <a:gs pos="100000">
                  <a:srgbClr val="DC0000"/>
                </a:gs>
              </a:gsLst>
              <a:lin ang="17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Rechteck 10"/>
            <p:cNvSpPr/>
            <p:nvPr/>
          </p:nvSpPr>
          <p:spPr>
            <a:xfrm>
              <a:off x="864000" y="898525"/>
              <a:ext cx="158400" cy="5964238"/>
            </a:xfrm>
            <a:prstGeom prst="rect">
              <a:avLst/>
            </a:prstGeom>
            <a:gradFill>
              <a:gsLst>
                <a:gs pos="0">
                  <a:srgbClr val="640014"/>
                </a:gs>
                <a:gs pos="100000">
                  <a:srgbClr val="640014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eck 12"/>
            <p:cNvSpPr/>
            <p:nvPr/>
          </p:nvSpPr>
          <p:spPr>
            <a:xfrm>
              <a:off x="1022400" y="898525"/>
              <a:ext cx="288000" cy="5964238"/>
            </a:xfrm>
            <a:prstGeom prst="rect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181" y="210670"/>
            <a:ext cx="1800000" cy="2562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- und Bild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60501" y="5462589"/>
            <a:ext cx="8182683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7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39209" y="674689"/>
            <a:ext cx="9193391" cy="365125"/>
          </a:xfrm>
          <a:prstGeom prst="rect">
            <a:avLst/>
          </a:prstGeom>
        </p:spPr>
        <p:txBody>
          <a:bodyPr lIns="0" tIns="0"/>
          <a:lstStyle>
            <a:lvl1pPr marL="0" indent="0">
              <a:spcBef>
                <a:spcPts val="0"/>
              </a:spcBef>
              <a:buNone/>
              <a:defRPr sz="2665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HEADLINE 1</a:t>
            </a:r>
            <a:endParaRPr lang="de-DE"/>
          </a:p>
        </p:txBody>
      </p:sp>
      <p:sp>
        <p:nvSpPr>
          <p:cNvPr id="18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anchor="t" anchorCtr="0"/>
          <a:lstStyle>
            <a:lvl1pPr marL="0" indent="0">
              <a:spcBef>
                <a:spcPts val="0"/>
              </a:spcBef>
              <a:buNone/>
              <a:defRPr sz="1780" cap="all" baseline="0">
                <a:solidFill>
                  <a:srgbClr val="7D001E"/>
                </a:solidFill>
              </a:defRPr>
            </a:lvl1pPr>
          </a:lstStyle>
          <a:p>
            <a:pPr lvl="0"/>
            <a:r>
              <a:rPr lang="de-DE"/>
              <a:t>HEADLINE 2</a:t>
            </a:r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und Bild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60501" y="5462589"/>
            <a:ext cx="8182683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7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39209" y="674689"/>
            <a:ext cx="9193391" cy="365125"/>
          </a:xfrm>
          <a:prstGeom prst="rect">
            <a:avLst/>
          </a:prstGeom>
        </p:spPr>
        <p:txBody>
          <a:bodyPr lIns="0" tIns="0"/>
          <a:lstStyle>
            <a:lvl1pPr marL="0" indent="0">
              <a:spcBef>
                <a:spcPts val="0"/>
              </a:spcBef>
              <a:buNone/>
              <a:defRPr sz="2665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HEADLINE 1</a:t>
            </a:r>
            <a:endParaRPr lang="de-DE"/>
          </a:p>
        </p:txBody>
      </p:sp>
      <p:sp>
        <p:nvSpPr>
          <p:cNvPr id="18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anchor="t" anchorCtr="0"/>
          <a:lstStyle>
            <a:lvl1pPr marL="0" indent="0">
              <a:spcBef>
                <a:spcPts val="0"/>
              </a:spcBef>
              <a:buNone/>
              <a:defRPr sz="1780" cap="all" baseline="0">
                <a:solidFill>
                  <a:srgbClr val="7D001E"/>
                </a:solidFill>
              </a:defRPr>
            </a:lvl1pPr>
          </a:lstStyle>
          <a:p>
            <a:pPr lvl="0"/>
            <a:r>
              <a:rPr lang="de-DE"/>
              <a:t>HEADLINE 2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 hasCustomPrompt="1"/>
          </p:nvPr>
        </p:nvSpPr>
        <p:spPr>
          <a:xfrm>
            <a:off x="5159376" y="1562100"/>
            <a:ext cx="4483806" cy="3816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80"/>
            </a:lvl1pPr>
            <a:lvl2pPr marL="825500" indent="-317500">
              <a:buFont typeface="Symbol" panose="05050102010706020507" pitchFamily="18" charset="2"/>
              <a:buChar char="-"/>
              <a:defRPr sz="1780"/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4"/>
            <a:endParaRPr lang="de-DE"/>
          </a:p>
        </p:txBody>
      </p:sp>
      <p:sp>
        <p:nvSpPr>
          <p:cNvPr id="11" name="Textplatzhalt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39209" y="1562100"/>
            <a:ext cx="4494803" cy="38163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-"/>
              <a:defRPr lang="en-US" sz="1780" dirty="0" smtClean="0">
                <a:solidFill>
                  <a:schemeClr val="tx1"/>
                </a:solidFill>
                <a:latin typeface="+mn-lt"/>
                <a:ea typeface="ヒラギノ角ゴ Pro W3" charset="0"/>
                <a:cs typeface="ヒラギノ角ゴ Pro W3" charset="0"/>
              </a:defRPr>
            </a:lvl1pPr>
            <a:lvl2pPr marL="53975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Font typeface="Symbol" panose="05050102010706020507" pitchFamily="18" charset="2"/>
              <a:buChar char="-"/>
              <a:defRPr lang="en-US" sz="1780" dirty="0" smtClean="0">
                <a:solidFill>
                  <a:schemeClr val="tx1"/>
                </a:solidFill>
                <a:latin typeface="+mn-lt"/>
                <a:ea typeface="ヒラギノ角ゴ Pro W3" charset="0"/>
              </a:defRPr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57855" y="5462589"/>
            <a:ext cx="8185329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3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39210" y="674687"/>
            <a:ext cx="9203972" cy="365126"/>
          </a:xfrm>
          <a:prstGeom prst="rect">
            <a:avLst/>
          </a:prstGeom>
        </p:spPr>
        <p:txBody>
          <a:bodyPr lIns="0" tIns="0"/>
          <a:lstStyle>
            <a:lvl1pPr marL="0" indent="0">
              <a:spcBef>
                <a:spcPts val="0"/>
              </a:spcBef>
              <a:buNone/>
              <a:defRPr sz="2665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HEADLINE 1</a:t>
            </a:r>
            <a:endParaRPr lang="de-DE"/>
          </a:p>
        </p:txBody>
      </p:sp>
      <p:sp>
        <p:nvSpPr>
          <p:cNvPr id="14" name="Textplatzhalt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439209" y="1039812"/>
            <a:ext cx="9203971" cy="522288"/>
          </a:xfrm>
          <a:prstGeom prst="rect">
            <a:avLst/>
          </a:prstGeom>
        </p:spPr>
        <p:txBody>
          <a:bodyPr lIns="0" tIns="0" anchor="t" anchorCtr="0"/>
          <a:lstStyle>
            <a:lvl1pPr marL="0" indent="0">
              <a:spcBef>
                <a:spcPts val="0"/>
              </a:spcBef>
              <a:buNone/>
              <a:defRPr sz="1780" cap="all" baseline="0">
                <a:solidFill>
                  <a:srgbClr val="7D001E"/>
                </a:solidFill>
              </a:defRPr>
            </a:lvl1pPr>
          </a:lstStyle>
          <a:p>
            <a:pPr lvl="0"/>
            <a:r>
              <a:rPr lang="de-DE"/>
              <a:t>HEADLINE 2</a:t>
            </a:r>
            <a:endParaRPr lang="de-DE"/>
          </a:p>
        </p:txBody>
      </p:sp>
      <p:sp>
        <p:nvSpPr>
          <p:cNvPr id="7" name="Textplatzhalt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39208" y="1562100"/>
            <a:ext cx="9203973" cy="3816350"/>
          </a:xfrm>
          <a:prstGeom prst="rect">
            <a:avLst/>
          </a:prstGeom>
        </p:spPr>
        <p:txBody>
          <a:bodyPr/>
          <a:lstStyle>
            <a:lvl1pPr marL="0" indent="0">
              <a:buFont typeface="Symbol" panose="05050102010706020507" pitchFamily="18" charset="2"/>
              <a:buNone/>
              <a:defRPr sz="1780"/>
            </a:lvl1pPr>
            <a:lvl2pPr marL="825500" indent="-317500">
              <a:buFont typeface="Symbol" panose="05050102010706020507" pitchFamily="18" charset="2"/>
              <a:buChar char="-"/>
              <a:defRPr sz="1780"/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seite mit Text Quer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52563" y="5462589"/>
            <a:ext cx="8190621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3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39209" y="674687"/>
            <a:ext cx="9193391" cy="365126"/>
          </a:xfrm>
          <a:prstGeom prst="rect">
            <a:avLst/>
          </a:prstGeom>
        </p:spPr>
        <p:txBody>
          <a:bodyPr lIns="0" tIns="0"/>
          <a:lstStyle>
            <a:lvl1pPr marL="0" indent="0">
              <a:spcBef>
                <a:spcPts val="0"/>
              </a:spcBef>
              <a:buNone/>
              <a:defRPr sz="2665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HEADLINE 1</a:t>
            </a:r>
            <a:endParaRPr lang="de-DE"/>
          </a:p>
        </p:txBody>
      </p:sp>
      <p:sp>
        <p:nvSpPr>
          <p:cNvPr id="14" name="Textplatzhalt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anchor="t" anchorCtr="0"/>
          <a:lstStyle>
            <a:lvl1pPr marL="0" indent="0">
              <a:spcBef>
                <a:spcPts val="0"/>
              </a:spcBef>
              <a:buNone/>
              <a:defRPr sz="1780" cap="all" baseline="0">
                <a:solidFill>
                  <a:srgbClr val="7D001E"/>
                </a:solidFill>
              </a:defRPr>
            </a:lvl1pPr>
          </a:lstStyle>
          <a:p>
            <a:pPr lvl="0"/>
            <a:r>
              <a:rPr lang="de-DE"/>
              <a:t>HEADLINE 2</a:t>
            </a:r>
            <a:endParaRPr lang="de-DE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39208" y="1562100"/>
            <a:ext cx="9203973" cy="1799456"/>
          </a:xfrm>
          <a:prstGeom prst="rect">
            <a:avLst/>
          </a:prstGeom>
        </p:spPr>
        <p:txBody>
          <a:bodyPr/>
          <a:lstStyle>
            <a:lvl1pPr marL="0" indent="0">
              <a:buFont typeface="Symbol" panose="05050102010706020507" pitchFamily="18" charset="2"/>
              <a:buNone/>
              <a:defRPr sz="1780"/>
            </a:lvl1pPr>
            <a:lvl2pPr marL="825500" indent="-317500">
              <a:buFont typeface="Symbol" panose="05050102010706020507" pitchFamily="18" charset="2"/>
              <a:buChar char="-"/>
              <a:defRPr sz="1780"/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Textplatzhalter 2"/>
          <p:cNvSpPr>
            <a:spLocks noGrp="1"/>
          </p:cNvSpPr>
          <p:nvPr>
            <p:ph type="body" sz="quarter" idx="18" hasCustomPrompt="1"/>
          </p:nvPr>
        </p:nvSpPr>
        <p:spPr>
          <a:xfrm>
            <a:off x="439208" y="3555324"/>
            <a:ext cx="9203973" cy="1799456"/>
          </a:xfrm>
          <a:prstGeom prst="rect">
            <a:avLst/>
          </a:prstGeom>
        </p:spPr>
        <p:txBody>
          <a:bodyPr/>
          <a:lstStyle>
            <a:lvl1pPr marL="0" indent="0">
              <a:buFont typeface="Symbol" panose="05050102010706020507" pitchFamily="18" charset="2"/>
              <a:buNone/>
              <a:defRPr sz="1780"/>
            </a:lvl1pPr>
            <a:lvl2pPr marL="825500" indent="-317500">
              <a:buFont typeface="Symbol" panose="05050102010706020507" pitchFamily="18" charset="2"/>
              <a:buChar char="-"/>
              <a:defRPr sz="1780"/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1456000" y="676276"/>
            <a:ext cx="8704000" cy="5038727"/>
          </a:xfrm>
          <a:prstGeom prst="rect">
            <a:avLst/>
          </a:prstGeom>
          <a:gradFill>
            <a:gsLst>
              <a:gs pos="20000">
                <a:srgbClr val="7D001E"/>
              </a:gs>
              <a:gs pos="100000">
                <a:srgbClr val="DC0000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" name="Gruppieren 10"/>
          <p:cNvGrpSpPr/>
          <p:nvPr userDrawn="1"/>
        </p:nvGrpSpPr>
        <p:grpSpPr>
          <a:xfrm>
            <a:off x="0" y="676273"/>
            <a:ext cx="1456000" cy="5038728"/>
            <a:chOff x="0" y="898525"/>
            <a:chExt cx="1310400" cy="5964238"/>
          </a:xfrm>
        </p:grpSpPr>
        <p:sp>
          <p:nvSpPr>
            <p:cNvPr id="12" name="Rechteck 11"/>
            <p:cNvSpPr/>
            <p:nvPr/>
          </p:nvSpPr>
          <p:spPr>
            <a:xfrm>
              <a:off x="0" y="898525"/>
              <a:ext cx="864000" cy="5964238"/>
            </a:xfrm>
            <a:prstGeom prst="rect">
              <a:avLst/>
            </a:prstGeom>
            <a:gradFill>
              <a:gsLst>
                <a:gs pos="20000">
                  <a:srgbClr val="7D001E"/>
                </a:gs>
                <a:gs pos="100000">
                  <a:srgbClr val="DC0000"/>
                </a:gs>
              </a:gsLst>
              <a:lin ang="17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eck 12"/>
            <p:cNvSpPr/>
            <p:nvPr/>
          </p:nvSpPr>
          <p:spPr>
            <a:xfrm>
              <a:off x="864000" y="898525"/>
              <a:ext cx="158400" cy="5964238"/>
            </a:xfrm>
            <a:prstGeom prst="rect">
              <a:avLst/>
            </a:prstGeom>
            <a:gradFill>
              <a:gsLst>
                <a:gs pos="0">
                  <a:srgbClr val="640014"/>
                </a:gs>
                <a:gs pos="100000">
                  <a:srgbClr val="640014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eck 13"/>
            <p:cNvSpPr/>
            <p:nvPr/>
          </p:nvSpPr>
          <p:spPr>
            <a:xfrm>
              <a:off x="1022400" y="898525"/>
              <a:ext cx="288000" cy="5964238"/>
            </a:xfrm>
            <a:prstGeom prst="rect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559803" y="4957735"/>
            <a:ext cx="6480528" cy="3598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Edit Text Master Format</a:t>
            </a: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56000" y="5462589"/>
            <a:ext cx="8187182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181" y="210670"/>
            <a:ext cx="1800000" cy="2562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/>
        </p:nvSpPr>
        <p:spPr>
          <a:xfrm>
            <a:off x="1456001" y="5462583"/>
            <a:ext cx="8704000" cy="252417"/>
          </a:xfrm>
          <a:prstGeom prst="rect">
            <a:avLst/>
          </a:prstGeom>
          <a:gradFill flip="none" rotWithShape="1">
            <a:gsLst>
              <a:gs pos="0">
                <a:srgbClr val="696969"/>
              </a:gs>
              <a:gs pos="100000">
                <a:schemeClr val="bg1">
                  <a:lumMod val="85000"/>
                </a:schemeClr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56000" y="5462588"/>
            <a:ext cx="8187181" cy="2524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grpSp>
        <p:nvGrpSpPr>
          <p:cNvPr id="20" name="Gruppieren 19"/>
          <p:cNvGrpSpPr/>
          <p:nvPr/>
        </p:nvGrpSpPr>
        <p:grpSpPr>
          <a:xfrm>
            <a:off x="0" y="5462241"/>
            <a:ext cx="1456000" cy="252416"/>
            <a:chOff x="0" y="898525"/>
            <a:chExt cx="1310400" cy="5964238"/>
          </a:xfrm>
        </p:grpSpPr>
        <p:sp>
          <p:nvSpPr>
            <p:cNvPr id="21" name="Rechteck 20"/>
            <p:cNvSpPr/>
            <p:nvPr/>
          </p:nvSpPr>
          <p:spPr>
            <a:xfrm>
              <a:off x="0" y="898525"/>
              <a:ext cx="864000" cy="5964238"/>
            </a:xfrm>
            <a:prstGeom prst="rect">
              <a:avLst/>
            </a:prstGeom>
            <a:gradFill>
              <a:gsLst>
                <a:gs pos="20000">
                  <a:srgbClr val="7D001E"/>
                </a:gs>
                <a:gs pos="100000">
                  <a:srgbClr val="DC0000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Rechteck 21"/>
            <p:cNvSpPr/>
            <p:nvPr/>
          </p:nvSpPr>
          <p:spPr>
            <a:xfrm>
              <a:off x="864000" y="898525"/>
              <a:ext cx="158400" cy="5964238"/>
            </a:xfrm>
            <a:prstGeom prst="rect">
              <a:avLst/>
            </a:prstGeom>
            <a:gradFill>
              <a:gsLst>
                <a:gs pos="0">
                  <a:srgbClr val="640014"/>
                </a:gs>
                <a:gs pos="100000">
                  <a:srgbClr val="640014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Rechteck 22"/>
            <p:cNvSpPr/>
            <p:nvPr/>
          </p:nvSpPr>
          <p:spPr>
            <a:xfrm>
              <a:off x="1022400" y="898525"/>
              <a:ext cx="288000" cy="5964238"/>
            </a:xfrm>
            <a:prstGeom prst="rect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13" name="Grafik 1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181" y="210670"/>
            <a:ext cx="1800000" cy="256207"/>
          </a:xfrm>
          <a:prstGeom prst="rect">
            <a:avLst/>
          </a:prstGeom>
        </p:spPr>
      </p:pic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412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+mj-lt"/>
          <a:ea typeface="ヒラギノ角ゴ Pro W3" charset="0"/>
          <a:cs typeface="ヒラギノ角ゴ Pro W3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  <a:ea typeface="ヒラギノ角ゴ Pro W3" charset="0"/>
          <a:cs typeface="ヒラギノ角ゴ Pro W3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  <a:ea typeface="ヒラギノ角ゴ Pro W3" charset="0"/>
          <a:cs typeface="ヒラギノ角ゴ Pro W3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  <a:ea typeface="ヒラギノ角ゴ Pro W3" charset="0"/>
          <a:cs typeface="ヒラギノ角ゴ Pro W3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  <a:ea typeface="ヒラギノ角ゴ Pro W3" charset="0"/>
          <a:cs typeface="ヒラギノ角ゴ Pro W3" charset="0"/>
        </a:defRPr>
      </a:lvl5pPr>
      <a:lvl6pPr marL="508000"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</a:defRPr>
      </a:lvl6pPr>
      <a:lvl7pPr marL="1016000"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</a:defRPr>
      </a:lvl7pPr>
      <a:lvl8pPr marL="1524000"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</a:defRPr>
      </a:lvl8pPr>
      <a:lvl9pPr marL="2032000"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</a:defRPr>
      </a:lvl9pPr>
    </p:titleStyle>
    <p:bodyStyle>
      <a:lvl1pPr marL="381000" indent="-381000" algn="l" rtl="0" eaLnBrk="1" fontAlgn="base" hangingPunct="1">
        <a:spcBef>
          <a:spcPct val="20000"/>
        </a:spcBef>
        <a:spcAft>
          <a:spcPct val="0"/>
        </a:spcAft>
        <a:buChar char="•"/>
        <a:defRPr sz="3110">
          <a:solidFill>
            <a:schemeClr val="tx1"/>
          </a:solidFill>
          <a:latin typeface="+mn-lt"/>
          <a:ea typeface="ヒラギノ角ゴ Pro W3" charset="0"/>
          <a:cs typeface="ヒラギノ角ゴ Pro W3" charset="0"/>
        </a:defRPr>
      </a:lvl1pPr>
      <a:lvl2pPr marL="825500" indent="-317500" algn="l" rtl="0" eaLnBrk="1" fontAlgn="base" hangingPunct="1">
        <a:spcBef>
          <a:spcPct val="20000"/>
        </a:spcBef>
        <a:spcAft>
          <a:spcPct val="0"/>
        </a:spcAft>
        <a:buChar char="–"/>
        <a:defRPr sz="2665">
          <a:solidFill>
            <a:schemeClr val="tx1"/>
          </a:solidFill>
          <a:latin typeface="+mn-lt"/>
          <a:ea typeface="ヒラギノ角ゴ Pro W3" charset="0"/>
        </a:defRPr>
      </a:lvl2pPr>
      <a:lvl3pPr marL="1270000" indent="-254000" algn="l" rtl="0" eaLnBrk="1" fontAlgn="base" hangingPunct="1">
        <a:spcBef>
          <a:spcPct val="20000"/>
        </a:spcBef>
        <a:spcAft>
          <a:spcPct val="0"/>
        </a:spcAft>
        <a:buChar char="•"/>
        <a:defRPr sz="2220">
          <a:solidFill>
            <a:schemeClr val="tx1"/>
          </a:solidFill>
          <a:latin typeface="+mn-lt"/>
          <a:ea typeface="ヒラギノ角ゴ Pro W3" charset="0"/>
        </a:defRPr>
      </a:lvl3pPr>
      <a:lvl4pPr marL="1778000" indent="-2540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ヒラギノ角ゴ Pro W3" charset="0"/>
        </a:defRPr>
      </a:lvl4pPr>
      <a:lvl5pPr marL="2286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charset="0"/>
        </a:defRPr>
      </a:lvl5pPr>
      <a:lvl6pPr marL="2794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302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810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4318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4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2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0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48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6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4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/>
          <a:lstStyle/>
          <a:p>
            <a:r>
              <a:rPr lang="en-US" altLang="en-US" sz="2800">
                <a:sym typeface="+mn-ea"/>
              </a:rPr>
              <a:t>Supplier Document Standardisation Automation Using Power Automate</a:t>
            </a:r>
            <a:endParaRPr lang="de-DE" sz="2800" dirty="0" err="1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t"/>
          <a:lstStyle/>
          <a:p>
            <a:r>
              <a:rPr lang="de-DE" dirty="0">
                <a:ea typeface="ヒラギノ角ゴ Pro W3"/>
              </a:rPr>
              <a:t>Jack</a:t>
            </a:r>
            <a:endParaRPr lang="de-DE" dirty="0" err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lIns="0" tIns="0" rIns="91440" bIns="45720" anchor="t"/>
          <a:lstStyle/>
          <a:p>
            <a:r>
              <a:rPr lang="en-US" altLang="en-US" sz="2650" b="1">
                <a:solidFill>
                  <a:schemeClr val="tx1"/>
                </a:solidFill>
                <a:sym typeface="+mn-ea"/>
              </a:rPr>
              <a:t>Business Problem</a:t>
            </a:r>
            <a:endParaRPr lang="en-US" altLang="en-US" sz="265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7040" y="1549400"/>
            <a:ext cx="9057005" cy="17157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1800">
                <a:sym typeface="+mn-ea"/>
              </a:rPr>
              <a:t>Supplier documents lacked consistent company branding</a:t>
            </a:r>
            <a:endParaRPr lang="en-US" altLang="en-US" sz="1800"/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1800">
                <a:sym typeface="+mn-ea"/>
              </a:rPr>
              <a:t>Manual updates required for titles and company stamping</a:t>
            </a:r>
            <a:endParaRPr lang="en-US" altLang="en-US" sz="1800"/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1800">
                <a:sym typeface="+mn-ea"/>
              </a:rPr>
              <a:t>High risk of formatting inconsistency and non-compliance</a:t>
            </a:r>
            <a:endParaRPr lang="en-US" altLang="en-US" sz="1800"/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1800">
                <a:sym typeface="+mn-ea"/>
              </a:rPr>
              <a:t>Time-consuming manual processing for each document</a:t>
            </a:r>
            <a:endParaRPr lang="en-US" altLang="en-US" sz="1800"/>
          </a:p>
          <a:p>
            <a:endParaRPr lang="en-US" sz="1800" dirty="0">
              <a:latin typeface="+mn-lt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lIns="0" tIns="0" rIns="91440" bIns="45720" anchor="t"/>
          <a:lstStyle/>
          <a:p>
            <a:r>
              <a:rPr lang="en-US" altLang="en-US" sz="2650" b="1">
                <a:solidFill>
                  <a:schemeClr val="tx1"/>
                </a:solidFill>
                <a:sym typeface="+mn-ea"/>
              </a:rPr>
              <a:t>Solution Overview</a:t>
            </a:r>
            <a:endParaRPr lang="en-US" altLang="en-US" sz="2650" b="1" dirty="0">
              <a:solidFill>
                <a:schemeClr val="tx1"/>
              </a:solidFill>
              <a:cs typeface="Arial" panose="020B0604020202020204"/>
              <a:sym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7515" y="1549400"/>
            <a:ext cx="9722485" cy="2404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Built </a:t>
            </a:r>
            <a:r>
              <a:rPr lang="en-US" altLang="en-US" b="1">
                <a:sym typeface="+mn-ea"/>
              </a:rPr>
              <a:t>file-triggered automation</a:t>
            </a:r>
            <a:r>
              <a:rPr lang="en-US" altLang="en-US">
                <a:sym typeface="+mn-ea"/>
              </a:rPr>
              <a:t> on SharePoint folder</a:t>
            </a:r>
            <a:endParaRPr lang="en-US" altLang="en-US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Automatically standardised document titles to company format</a:t>
            </a:r>
            <a:endParaRPr lang="en-US" altLang="en-US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Applied </a:t>
            </a:r>
            <a:r>
              <a:rPr lang="en-US" altLang="en-US" b="1">
                <a:sym typeface="+mn-ea"/>
              </a:rPr>
              <a:t>electronic company stamp</a:t>
            </a:r>
            <a:r>
              <a:rPr lang="en-US" altLang="en-US">
                <a:sym typeface="+mn-ea"/>
              </a:rPr>
              <a:t> to document footer</a:t>
            </a:r>
            <a:endParaRPr lang="en-US" altLang="en-US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Ensured consistent branding across all supplier documents</a:t>
            </a:r>
            <a:endParaRPr lang="en-US" altLang="en-US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Eliminated manual formatting and document handling effort</a:t>
            </a:r>
            <a:endParaRPr lang="en-US" altLang="en-US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Implemented </a:t>
            </a:r>
            <a:r>
              <a:rPr lang="en-US" altLang="en-US" b="1">
                <a:sym typeface="+mn-ea"/>
              </a:rPr>
              <a:t>failure &amp; timeout alerts</a:t>
            </a:r>
            <a:r>
              <a:rPr lang="en-US" altLang="en-US">
                <a:sym typeface="+mn-ea"/>
              </a:rPr>
              <a:t> to maintenance team</a:t>
            </a:r>
            <a:endParaRPr lang="en-US" altLang="en-US"/>
          </a:p>
          <a:p>
            <a:pPr algn="ctr"/>
            <a:endParaRPr lang="en-US" sz="1600" b="0" i="0" dirty="0" err="1">
              <a:latin typeface="+mn-lt"/>
              <a:cs typeface="Helvetica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lIns="0" tIns="0" rIns="91440" bIns="45720" anchor="t"/>
          <a:lstStyle/>
          <a:p>
            <a:r>
              <a:rPr lang="en-US" altLang="en-US" sz="2650" b="1">
                <a:solidFill>
                  <a:schemeClr val="tx1"/>
                </a:solidFill>
                <a:sym typeface="+mn-ea"/>
              </a:rPr>
              <a:t>Business Impact</a:t>
            </a:r>
            <a:endParaRPr lang="en-US" altLang="en-US" sz="2650" b="1" dirty="0">
              <a:solidFill>
                <a:schemeClr val="tx1"/>
              </a:solidFill>
              <a:ea typeface="ヒラギノ角ゴ Pro W3"/>
              <a:sym typeface="+mn-ea"/>
            </a:endParaRP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rIns="91440" bIns="45720" anchor="t" anchorCtr="0"/>
          <a:lstStyle>
            <a:lvl1pPr marL="0" indent="0" algn="l" rtl="0" eaLnBrk="1" fontAlgn="base" hangingPunct="1">
              <a:spcBef>
                <a:spcPts val="0"/>
              </a:spcBef>
              <a:spcAft>
                <a:spcPct val="0"/>
              </a:spcAft>
              <a:buNone/>
              <a:defRPr sz="1780" cap="all" baseline="0">
                <a:solidFill>
                  <a:srgbClr val="7D001E"/>
                </a:solidFill>
                <a:latin typeface="+mn-lt"/>
                <a:ea typeface="ヒラギノ角ゴ Pro W3" charset="0"/>
                <a:cs typeface="ヒラギノ角ゴ Pro W3" charset="0"/>
              </a:defRPr>
            </a:lvl1pPr>
            <a:lvl2pPr marL="825500" indent="-3175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665">
                <a:solidFill>
                  <a:schemeClr val="tx1"/>
                </a:solidFill>
                <a:latin typeface="+mn-lt"/>
                <a:ea typeface="ヒラギノ角ゴ Pro W3" charset="0"/>
              </a:defRPr>
            </a:lvl2pPr>
            <a:lvl3pPr marL="1270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20">
                <a:solidFill>
                  <a:schemeClr val="tx1"/>
                </a:solidFill>
                <a:latin typeface="+mn-lt"/>
                <a:ea typeface="ヒラギノ角ゴ Pro W3" charset="0"/>
              </a:defRPr>
            </a:lvl3pPr>
            <a:lvl4pPr marL="1778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ヒラギノ角ゴ Pro W3" charset="0"/>
              </a:defRPr>
            </a:lvl4pPr>
            <a:lvl5pPr marL="2286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charset="0"/>
              </a:defRPr>
            </a:lvl5pPr>
            <a:lvl6pPr marL="2794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3302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810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4318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400" dirty="0">
                <a:ea typeface="ヒラギノ角ゴ Pro W3"/>
              </a:rPr>
              <a:t>estimated process effort for supplier document standardisation automation</a:t>
            </a:r>
            <a:endParaRPr lang="en-US" sz="1400" dirty="0"/>
          </a:p>
        </p:txBody>
      </p:sp>
      <p:sp>
        <p:nvSpPr>
          <p:cNvPr id="21" name="Rounded Rectangle 20"/>
          <p:cNvSpPr/>
          <p:nvPr/>
        </p:nvSpPr>
        <p:spPr>
          <a:xfrm>
            <a:off x="7031093" y="1360056"/>
            <a:ext cx="1440255" cy="377210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Aptos"/>
              </a:defRPr>
            </a:pPr>
            <a:r>
              <a:rPr sz="825"/>
              <a:t>≈ </a:t>
            </a:r>
            <a:r>
              <a:rPr sz="825">
                <a:sym typeface="+mn-ea"/>
              </a:rPr>
              <a:t>85–95</a:t>
            </a:r>
            <a:r>
              <a:rPr sz="825"/>
              <a:t>% less effort</a:t>
            </a:r>
            <a:endParaRPr sz="825"/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44529" y="1340410"/>
          <a:ext cx="5280935" cy="32234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6036945" y="1792605"/>
            <a:ext cx="2434590" cy="33705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"/>
          </a:p>
        </p:txBody>
      </p:sp>
      <p:sp>
        <p:nvSpPr>
          <p:cNvPr id="24" name="TextBox 6"/>
          <p:cNvSpPr txBox="1"/>
          <p:nvPr/>
        </p:nvSpPr>
        <p:spPr>
          <a:xfrm>
            <a:off x="6343980" y="2263079"/>
            <a:ext cx="887730" cy="252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7280"/>
                </a:solidFill>
                <a:latin typeface="Aptos"/>
              </a:defRPr>
            </a:pPr>
            <a:r>
              <a:rPr sz="1050"/>
              <a:t>Time saved</a:t>
            </a:r>
            <a:endParaRPr sz="1050"/>
          </a:p>
        </p:txBody>
      </p:sp>
      <p:sp>
        <p:nvSpPr>
          <p:cNvPr id="25" name="TextBox 7"/>
          <p:cNvSpPr txBox="1"/>
          <p:nvPr/>
        </p:nvSpPr>
        <p:spPr>
          <a:xfrm>
            <a:off x="6323405" y="2537414"/>
            <a:ext cx="1197610" cy="575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  <a:latin typeface="Aptos"/>
              </a:defRPr>
            </a:pPr>
            <a:r>
              <a:rPr sz="2100"/>
              <a:t>~</a:t>
            </a:r>
            <a:r>
              <a:rPr lang="en-US" sz="2100"/>
              <a:t>9</a:t>
            </a:r>
            <a:r>
              <a:rPr sz="2100"/>
              <a:t> mins</a:t>
            </a:r>
            <a:endParaRPr sz="2100"/>
          </a:p>
          <a:p>
            <a:pPr algn="l">
              <a:defRPr sz="1400">
                <a:solidFill>
                  <a:srgbClr val="6B7280"/>
                </a:solidFill>
                <a:latin typeface="Aptos"/>
              </a:defRPr>
            </a:pPr>
            <a:r>
              <a:rPr sz="1050"/>
              <a:t>per </a:t>
            </a:r>
            <a:r>
              <a:rPr sz="1050">
                <a:sym typeface="+mn-ea"/>
              </a:rPr>
              <a:t>document</a:t>
            </a:r>
            <a:endParaRPr sz="1050"/>
          </a:p>
        </p:txBody>
      </p:sp>
      <p:sp>
        <p:nvSpPr>
          <p:cNvPr id="26" name="Rectangle 8"/>
          <p:cNvSpPr/>
          <p:nvPr/>
        </p:nvSpPr>
        <p:spPr>
          <a:xfrm>
            <a:off x="6309689" y="3154666"/>
            <a:ext cx="2091799" cy="685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"/>
          </a:p>
        </p:txBody>
      </p:sp>
      <p:sp>
        <p:nvSpPr>
          <p:cNvPr id="27" name="TextBox 9"/>
          <p:cNvSpPr txBox="1"/>
          <p:nvPr/>
        </p:nvSpPr>
        <p:spPr>
          <a:xfrm>
            <a:off x="6343980" y="3291833"/>
            <a:ext cx="2023215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  <a:latin typeface="Aptos"/>
              </a:defRPr>
            </a:pPr>
            <a:r>
              <a:rPr lang="en-US" altLang="en-US" sz="825"/>
              <a:t>Eliminated manual renaming and stamping effort</a:t>
            </a:r>
            <a:endParaRPr lang="en-US" altLang="en-US" sz="825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  <a:latin typeface="Aptos"/>
              </a:defRPr>
            </a:pPr>
            <a:r>
              <a:rPr lang="en-US" altLang="en-US" sz="825"/>
              <a:t>Ensured 100% consistency in document branding</a:t>
            </a:r>
            <a:endParaRPr lang="en-US" altLang="en-US" sz="825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  <a:latin typeface="Aptos"/>
              </a:defRPr>
            </a:pPr>
            <a:r>
              <a:rPr lang="en-US" altLang="en-US" sz="825"/>
              <a:t>Reduced risk of non-compliance with corporate standards</a:t>
            </a:r>
            <a:endParaRPr lang="en-US" altLang="en-US" sz="825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  <a:latin typeface="Aptos"/>
              </a:defRPr>
            </a:pPr>
            <a:r>
              <a:rPr lang="en-US" altLang="en-US" sz="825"/>
              <a:t>Improved document processing speed and efficiency</a:t>
            </a:r>
            <a:endParaRPr lang="en-US" altLang="en-US" sz="825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  <a:latin typeface="Aptos"/>
              </a:defRPr>
            </a:pPr>
            <a:r>
              <a:rPr lang="en-US" altLang="en-US" sz="825"/>
              <a:t>Established a consistent and scalable document governance process</a:t>
            </a:r>
            <a:endParaRPr lang="en-US" altLang="en-US" sz="825"/>
          </a:p>
        </p:txBody>
      </p:sp>
      <p:sp>
        <p:nvSpPr>
          <p:cNvPr id="28" name="TextBox 10"/>
          <p:cNvSpPr txBox="1"/>
          <p:nvPr/>
        </p:nvSpPr>
        <p:spPr>
          <a:xfrm>
            <a:off x="548669" y="4563847"/>
            <a:ext cx="2273935" cy="195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rPr sz="675"/>
              <a:t>Estimates based on typical process time per </a:t>
            </a:r>
            <a:r>
              <a:rPr lang="en-US" sz="675"/>
              <a:t>document</a:t>
            </a:r>
            <a:r>
              <a:rPr sz="675"/>
              <a:t>.</a:t>
            </a:r>
            <a:endParaRPr sz="67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lIns="0" tIns="0" rIns="91440" bIns="45720" anchor="t"/>
          <a:lstStyle/>
          <a:p>
            <a:r>
              <a:rPr lang="en-US" altLang="en-US" sz="2700" b="1">
                <a:solidFill>
                  <a:schemeClr val="tx1"/>
                </a:solidFill>
                <a:sym typeface="+mn-ea"/>
              </a:rPr>
              <a:t>Automated Document Standardisation</a:t>
            </a:r>
            <a:endParaRPr lang="en-US" altLang="en-US" sz="2700" b="1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0" name="Content Placeholder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00" y="1482725"/>
            <a:ext cx="2313305" cy="39249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" name="Rounded Rectangle 30"/>
          <p:cNvSpPr/>
          <p:nvPr/>
        </p:nvSpPr>
        <p:spPr>
          <a:xfrm>
            <a:off x="700405" y="1625600"/>
            <a:ext cx="2068195" cy="61531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S</a:t>
            </a:r>
            <a:r>
              <a:rPr lang="en-US"/>
              <a:t>upplier’s Title</a:t>
            </a:r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700405" y="2296160"/>
            <a:ext cx="2068195" cy="218122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Content</a:t>
            </a:r>
            <a:endParaRPr lang="en-US"/>
          </a:p>
        </p:txBody>
      </p:sp>
      <p:pic>
        <p:nvPicPr>
          <p:cNvPr id="33" name="Content Placeholder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3025" y="1482090"/>
            <a:ext cx="2313305" cy="39192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" name="Rounded Rectangle 33"/>
          <p:cNvSpPr/>
          <p:nvPr/>
        </p:nvSpPr>
        <p:spPr>
          <a:xfrm>
            <a:off x="4110355" y="1625600"/>
            <a:ext cx="2068195" cy="61531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Company’s Title</a:t>
            </a:r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4100195" y="2296160"/>
            <a:ext cx="2068195" cy="218122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Content</a:t>
            </a:r>
            <a:endParaRPr lang="en-US"/>
          </a:p>
        </p:txBody>
      </p:sp>
      <p:sp>
        <p:nvSpPr>
          <p:cNvPr id="36" name="Text Box 35"/>
          <p:cNvSpPr txBox="1"/>
          <p:nvPr/>
        </p:nvSpPr>
        <p:spPr>
          <a:xfrm>
            <a:off x="398145" y="1114425"/>
            <a:ext cx="3061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Manual Document</a:t>
            </a:r>
            <a:endParaRPr lang="en-US" altLang="en-US" b="1"/>
          </a:p>
        </p:txBody>
      </p:sp>
      <p:sp>
        <p:nvSpPr>
          <p:cNvPr id="37" name="Text Box 36"/>
          <p:cNvSpPr txBox="1"/>
          <p:nvPr/>
        </p:nvSpPr>
        <p:spPr>
          <a:xfrm>
            <a:off x="3769360" y="1113790"/>
            <a:ext cx="3061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Standardised Document</a:t>
            </a:r>
            <a:endParaRPr lang="en-US" altLang="en-US" b="1"/>
          </a:p>
        </p:txBody>
      </p:sp>
      <p:sp>
        <p:nvSpPr>
          <p:cNvPr id="38" name="Rounded Rectangle 37"/>
          <p:cNvSpPr/>
          <p:nvPr/>
        </p:nvSpPr>
        <p:spPr>
          <a:xfrm>
            <a:off x="4756150" y="4674235"/>
            <a:ext cx="1440815" cy="727075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/>
              <a:t>C</a:t>
            </a:r>
            <a:r>
              <a:rPr lang="en-US" sz="1600"/>
              <a:t>ompany’s stamp </a:t>
            </a:r>
            <a:endParaRPr lang="en-US" sz="1600"/>
          </a:p>
          <a:p>
            <a:pPr algn="ctr"/>
            <a:r>
              <a:rPr lang="en-US" sz="1600"/>
              <a:t>(F</a:t>
            </a:r>
            <a:r>
              <a:rPr lang="en-US" sz="1600"/>
              <a:t>ooter)</a:t>
            </a:r>
            <a:endParaRPr lang="en-US" sz="1600"/>
          </a:p>
        </p:txBody>
      </p:sp>
      <p:sp>
        <p:nvSpPr>
          <p:cNvPr id="39" name="Text Box 38"/>
          <p:cNvSpPr txBox="1"/>
          <p:nvPr/>
        </p:nvSpPr>
        <p:spPr>
          <a:xfrm>
            <a:off x="6764020" y="4725670"/>
            <a:ext cx="30480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b="1"/>
              <a:t>Illustrative example shown due to data privacy considerations.</a:t>
            </a:r>
            <a:endParaRPr lang="en-US" altLang="en-US" sz="14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lIns="0" tIns="0" rIns="91440" bIns="45720" anchor="t"/>
          <a:lstStyle/>
          <a:p>
            <a:r>
              <a:rPr lang="en-US" altLang="en-US" sz="2650" b="1">
                <a:solidFill>
                  <a:schemeClr val="tx1"/>
                </a:solidFill>
                <a:sym typeface="+mn-ea"/>
              </a:rPr>
              <a:t>Flow - Standardisation Automation</a:t>
            </a:r>
            <a:endParaRPr lang="en-US" altLang="en-US" sz="2650" b="1" dirty="0">
              <a:solidFill>
                <a:schemeClr val="tx1"/>
              </a:solidFill>
              <a:ea typeface="ヒラギノ角ゴ Pro W3"/>
              <a:sym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7323" y="1560741"/>
            <a:ext cx="8675220" cy="20447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spAutoFit/>
          </a:bodyPr>
          <a:lstStyle/>
          <a:p>
            <a:pPr>
              <a:lnSpc>
                <a:spcPct val="130000"/>
              </a:lnSpc>
              <a:buAutoNum type="arabicPeriod"/>
            </a:pPr>
            <a:r>
              <a:rPr lang="en-US" altLang="en-US" b="1">
                <a:sym typeface="+mn-ea"/>
              </a:rPr>
              <a:t>Trigger: </a:t>
            </a:r>
            <a:r>
              <a:rPr lang="en-US" altLang="en-US">
                <a:sym typeface="+mn-ea"/>
              </a:rPr>
              <a:t>New supplier document uploaded in selected folder</a:t>
            </a:r>
            <a:endParaRPr lang="en-US" altLang="en-US"/>
          </a:p>
          <a:p>
            <a:pPr>
              <a:lnSpc>
                <a:spcPct val="130000"/>
              </a:lnSpc>
              <a:buAutoNum type="arabicPeriod"/>
            </a:pPr>
            <a:r>
              <a:rPr lang="en-US" altLang="en-US">
                <a:sym typeface="+mn-ea"/>
              </a:rPr>
              <a:t>Standardise document title to company format</a:t>
            </a:r>
            <a:endParaRPr lang="en-US" altLang="en-US"/>
          </a:p>
          <a:p>
            <a:pPr>
              <a:lnSpc>
                <a:spcPct val="130000"/>
              </a:lnSpc>
              <a:buAutoNum type="arabicPeriod"/>
            </a:pPr>
            <a:r>
              <a:rPr lang="en-US" altLang="en-US">
                <a:sym typeface="+mn-ea"/>
              </a:rPr>
              <a:t>Replace Document’s Header/Title by Company’s Header/Title</a:t>
            </a:r>
            <a:endParaRPr lang="en-US" altLang="en-US"/>
          </a:p>
          <a:p>
            <a:pPr>
              <a:lnSpc>
                <a:spcPct val="130000"/>
              </a:lnSpc>
              <a:buAutoNum type="arabicPeriod"/>
            </a:pPr>
            <a:r>
              <a:rPr lang="en-US" altLang="en-US">
                <a:sym typeface="+mn-ea"/>
              </a:rPr>
              <a:t>Insert electronic company stamp in footer</a:t>
            </a:r>
            <a:endParaRPr lang="en-US" altLang="en-US"/>
          </a:p>
          <a:p>
            <a:pPr>
              <a:lnSpc>
                <a:spcPct val="130000"/>
              </a:lnSpc>
              <a:buAutoNum type="arabicPeriod"/>
            </a:pPr>
            <a:r>
              <a:rPr lang="en-US" altLang="en-US">
                <a:sym typeface="+mn-ea"/>
              </a:rPr>
              <a:t>Save updated and compliant version</a:t>
            </a:r>
            <a:endParaRPr lang="en-US" altLang="en-US"/>
          </a:p>
          <a:p>
            <a:pPr algn="ctr"/>
            <a:endParaRPr lang="en-US" sz="1600" b="0" i="0" dirty="0" err="1">
              <a:latin typeface="+mn-lt"/>
              <a:cs typeface="Arial" panose="020B0604020202020204"/>
            </a:endParaRPr>
          </a:p>
        </p:txBody>
      </p:sp>
      <p:sp>
        <p:nvSpPr>
          <p:cNvPr id="15" name="Text Placeholder 4"/>
          <p:cNvSpPr>
            <a:spLocks noGrp="1"/>
          </p:cNvSpPr>
          <p:nvPr/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rIns="91440" bIns="45720" anchor="t" anchorCtr="0"/>
          <a:lstStyle>
            <a:lvl1pPr marL="0" indent="0" algn="l" rtl="0" eaLnBrk="1" fontAlgn="base" hangingPunct="1">
              <a:spcBef>
                <a:spcPts val="0"/>
              </a:spcBef>
              <a:spcAft>
                <a:spcPct val="0"/>
              </a:spcAft>
              <a:buNone/>
              <a:defRPr sz="1780" cap="all" baseline="0">
                <a:solidFill>
                  <a:srgbClr val="7D001E"/>
                </a:solidFill>
                <a:latin typeface="+mn-lt"/>
                <a:ea typeface="ヒラギノ角ゴ Pro W3" charset="0"/>
                <a:cs typeface="ヒラギノ角ゴ Pro W3" charset="0"/>
              </a:defRPr>
            </a:lvl1pPr>
            <a:lvl2pPr marL="825500" indent="-3175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665">
                <a:solidFill>
                  <a:schemeClr val="tx1"/>
                </a:solidFill>
                <a:latin typeface="+mn-lt"/>
                <a:ea typeface="ヒラギノ角ゴ Pro W3" charset="0"/>
              </a:defRPr>
            </a:lvl2pPr>
            <a:lvl3pPr marL="1270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20">
                <a:solidFill>
                  <a:schemeClr val="tx1"/>
                </a:solidFill>
                <a:latin typeface="+mn-lt"/>
                <a:ea typeface="ヒラギノ角ゴ Pro W3" charset="0"/>
              </a:defRPr>
            </a:lvl3pPr>
            <a:lvl4pPr marL="1778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ヒラギノ角ゴ Pro W3" charset="0"/>
              </a:defRPr>
            </a:lvl4pPr>
            <a:lvl5pPr marL="2286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charset="0"/>
              </a:defRPr>
            </a:lvl5pPr>
            <a:lvl6pPr marL="2794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3302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810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4318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>
                <a:sym typeface="+mn-ea"/>
              </a:rPr>
              <a:t>Supplier Document Standardisation Automation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9" name="Rounded Rectangle 8"/>
          <p:cNvSpPr/>
          <p:nvPr/>
        </p:nvSpPr>
        <p:spPr>
          <a:xfrm>
            <a:off x="3771265" y="4868545"/>
            <a:ext cx="2481580" cy="5638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10" name="Rounded Rectangle 9"/>
          <p:cNvSpPr/>
          <p:nvPr/>
        </p:nvSpPr>
        <p:spPr>
          <a:xfrm>
            <a:off x="3748405" y="3420745"/>
            <a:ext cx="2481580" cy="124333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11" name="Rounded Rectangle 10"/>
          <p:cNvSpPr/>
          <p:nvPr/>
        </p:nvSpPr>
        <p:spPr>
          <a:xfrm>
            <a:off x="3709670" y="876300"/>
            <a:ext cx="2481580" cy="227203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13" name="Rectangles 12"/>
          <p:cNvSpPr/>
          <p:nvPr/>
        </p:nvSpPr>
        <p:spPr>
          <a:xfrm>
            <a:off x="3950970" y="790575"/>
            <a:ext cx="2026285" cy="23304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sz="800" strike="noStrike" noProof="1"/>
              <a:t>Scope - Try</a:t>
            </a:r>
            <a:endParaRPr lang="en-US" sz="800" strike="noStrike" noProof="1"/>
          </a:p>
        </p:txBody>
      </p:sp>
      <p:sp>
        <p:nvSpPr>
          <p:cNvPr id="15" name="Rectangles 14"/>
          <p:cNvSpPr/>
          <p:nvPr/>
        </p:nvSpPr>
        <p:spPr>
          <a:xfrm>
            <a:off x="3968750" y="3267075"/>
            <a:ext cx="2026285" cy="2330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sz="800" strike="noStrike" noProof="1"/>
              <a:t>Scope - Catch</a:t>
            </a:r>
            <a:endParaRPr lang="en-US" sz="800" strike="noStrike" noProof="1"/>
          </a:p>
        </p:txBody>
      </p:sp>
      <p:sp>
        <p:nvSpPr>
          <p:cNvPr id="37" name="Rectangles 36"/>
          <p:cNvSpPr/>
          <p:nvPr/>
        </p:nvSpPr>
        <p:spPr>
          <a:xfrm>
            <a:off x="3972560" y="4766945"/>
            <a:ext cx="2026285" cy="2349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sz="800" strike="noStrike" noProof="1"/>
              <a:t>Scope - Finally</a:t>
            </a:r>
            <a:endParaRPr lang="en-US" sz="800" strike="noStrike" noProof="1"/>
          </a:p>
        </p:txBody>
      </p:sp>
      <p:pic>
        <p:nvPicPr>
          <p:cNvPr id="38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5100" y="4771390"/>
            <a:ext cx="189230" cy="231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" name="Rectangles 38"/>
          <p:cNvSpPr/>
          <p:nvPr/>
        </p:nvSpPr>
        <p:spPr>
          <a:xfrm>
            <a:off x="3950970" y="1797685"/>
            <a:ext cx="2026285" cy="2330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  <a:sym typeface="+mn-ea"/>
              </a:rPr>
              <a:t>     Get File Content</a:t>
            </a:r>
            <a:endParaRPr lang="en-US" altLang="en-US" sz="800" strike="noStrike" noProof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3950970" y="2145665"/>
            <a:ext cx="2026285" cy="2330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</a:rPr>
              <a:t>Replace </a:t>
            </a:r>
            <a:r>
              <a:rPr lang="en-US" altLang="en-US" sz="800">
                <a:solidFill>
                  <a:schemeClr val="tx1"/>
                </a:solidFill>
                <a:sym typeface="+mn-ea"/>
              </a:rPr>
              <a:t>Document’s Header/Title by</a:t>
            </a:r>
            <a:endParaRPr lang="en-US" altLang="en-US" sz="800" strike="noStrike" noProof="1">
              <a:solidFill>
                <a:schemeClr val="tx1"/>
              </a:solidFill>
            </a:endParaRPr>
          </a:p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</a:rPr>
              <a:t>Company’s </a:t>
            </a:r>
            <a:r>
              <a:rPr lang="en-US" altLang="en-US" sz="800">
                <a:solidFill>
                  <a:schemeClr val="tx1"/>
                </a:solidFill>
                <a:sym typeface="+mn-ea"/>
              </a:rPr>
              <a:t>Header/Title</a:t>
            </a:r>
            <a:endParaRPr lang="en-US" altLang="en-US" sz="800" strike="noStrike" noProof="1">
              <a:solidFill>
                <a:schemeClr val="tx1"/>
              </a:solidFill>
            </a:endParaRPr>
          </a:p>
        </p:txBody>
      </p:sp>
      <p:sp>
        <p:nvSpPr>
          <p:cNvPr id="41" name="Down Arrow 40"/>
          <p:cNvSpPr/>
          <p:nvPr/>
        </p:nvSpPr>
        <p:spPr>
          <a:xfrm>
            <a:off x="4935220" y="2031365"/>
            <a:ext cx="80645" cy="10287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42" name="Down Arrow 41"/>
          <p:cNvSpPr/>
          <p:nvPr/>
        </p:nvSpPr>
        <p:spPr>
          <a:xfrm>
            <a:off x="4935220" y="2390140"/>
            <a:ext cx="80645" cy="10287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50" name="Rectangles 49"/>
          <p:cNvSpPr/>
          <p:nvPr/>
        </p:nvSpPr>
        <p:spPr>
          <a:xfrm>
            <a:off x="3968750" y="3615055"/>
            <a:ext cx="2026285" cy="2330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</a:rPr>
              <a:t>Capture Error Details</a:t>
            </a:r>
            <a:endParaRPr lang="en-US" altLang="en-US" sz="800" strike="noStrike" noProof="1">
              <a:solidFill>
                <a:schemeClr val="tx1"/>
              </a:solidFill>
            </a:endParaRPr>
          </a:p>
        </p:txBody>
      </p:sp>
      <p:sp>
        <p:nvSpPr>
          <p:cNvPr id="51" name="Down Arrow 50"/>
          <p:cNvSpPr/>
          <p:nvPr/>
        </p:nvSpPr>
        <p:spPr>
          <a:xfrm>
            <a:off x="4951730" y="3500755"/>
            <a:ext cx="80645" cy="10287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52" name="Down Arrow 51"/>
          <p:cNvSpPr/>
          <p:nvPr/>
        </p:nvSpPr>
        <p:spPr>
          <a:xfrm>
            <a:off x="4951730" y="3859530"/>
            <a:ext cx="80645" cy="10287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53" name="Rectangles 52"/>
          <p:cNvSpPr/>
          <p:nvPr/>
        </p:nvSpPr>
        <p:spPr>
          <a:xfrm>
            <a:off x="3968750" y="3991610"/>
            <a:ext cx="2026285" cy="2330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</a:rPr>
              <a:t>Update Status</a:t>
            </a:r>
            <a:endParaRPr lang="en-US" altLang="en-US" sz="800" strike="noStrike" noProof="1">
              <a:solidFill>
                <a:schemeClr val="tx1"/>
              </a:solidFill>
            </a:endParaRPr>
          </a:p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</a:rPr>
              <a:t>→ Failed</a:t>
            </a:r>
            <a:endParaRPr lang="en-US" altLang="en-US" sz="800" strike="noStrike" noProof="1">
              <a:solidFill>
                <a:schemeClr val="tx1"/>
              </a:solidFill>
            </a:endParaRPr>
          </a:p>
        </p:txBody>
      </p:sp>
      <p:sp>
        <p:nvSpPr>
          <p:cNvPr id="54" name="Rectangles 53"/>
          <p:cNvSpPr/>
          <p:nvPr/>
        </p:nvSpPr>
        <p:spPr>
          <a:xfrm>
            <a:off x="3968750" y="4338955"/>
            <a:ext cx="2026285" cy="231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</a:rPr>
              <a:t>Send Failure Email</a:t>
            </a:r>
            <a:endParaRPr lang="en-US" altLang="en-US" sz="800" strike="noStrike" noProof="1">
              <a:solidFill>
                <a:schemeClr val="tx1"/>
              </a:solidFill>
            </a:endParaRPr>
          </a:p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</a:rPr>
              <a:t>(Maintenance)</a:t>
            </a:r>
            <a:endParaRPr lang="en-US" altLang="en-US" sz="800" strike="noStrike" noProof="1">
              <a:solidFill>
                <a:schemeClr val="tx1"/>
              </a:solidFill>
            </a:endParaRPr>
          </a:p>
        </p:txBody>
      </p:sp>
      <p:sp>
        <p:nvSpPr>
          <p:cNvPr id="55" name="Down Arrow 54"/>
          <p:cNvSpPr/>
          <p:nvPr/>
        </p:nvSpPr>
        <p:spPr>
          <a:xfrm>
            <a:off x="4951730" y="4224655"/>
            <a:ext cx="80645" cy="10287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56" name="Down Arrow 55"/>
          <p:cNvSpPr/>
          <p:nvPr/>
        </p:nvSpPr>
        <p:spPr>
          <a:xfrm>
            <a:off x="4956810" y="4664075"/>
            <a:ext cx="80645" cy="10287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57" name="Down Arrow 56"/>
          <p:cNvSpPr/>
          <p:nvPr/>
        </p:nvSpPr>
        <p:spPr>
          <a:xfrm>
            <a:off x="4956810" y="5001895"/>
            <a:ext cx="80645" cy="10287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58" name="Rectangles 57"/>
          <p:cNvSpPr/>
          <p:nvPr/>
        </p:nvSpPr>
        <p:spPr>
          <a:xfrm>
            <a:off x="3973830" y="5133340"/>
            <a:ext cx="2025015" cy="2330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</a:rPr>
              <a:t>Write Audit Log</a:t>
            </a:r>
            <a:endParaRPr lang="en-US" altLang="en-US" sz="800" strike="noStrike" noProof="1">
              <a:solidFill>
                <a:schemeClr val="tx1"/>
              </a:solidFill>
            </a:endParaRPr>
          </a:p>
        </p:txBody>
      </p:sp>
      <p:sp>
        <p:nvSpPr>
          <p:cNvPr id="59" name="Rectangles 58"/>
          <p:cNvSpPr/>
          <p:nvPr/>
        </p:nvSpPr>
        <p:spPr>
          <a:xfrm>
            <a:off x="3950970" y="447040"/>
            <a:ext cx="2026285" cy="2330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</a:rPr>
              <a:t>   Trigger When New File is Added (O</a:t>
            </a:r>
            <a:r>
              <a:rPr lang="en-US" altLang="en-US" sz="800" strike="noStrike" noProof="1">
                <a:solidFill>
                  <a:schemeClr val="tx1"/>
                </a:solidFill>
              </a:rPr>
              <a:t>nedrive Folder)</a:t>
            </a:r>
            <a:endParaRPr lang="en-US" altLang="en-US" sz="800" strike="noStrike" noProof="1">
              <a:solidFill>
                <a:schemeClr val="tx1"/>
              </a:solidFill>
            </a:endParaRPr>
          </a:p>
        </p:txBody>
      </p:sp>
      <p:sp>
        <p:nvSpPr>
          <p:cNvPr id="60" name="Down Arrow 59"/>
          <p:cNvSpPr/>
          <p:nvPr/>
        </p:nvSpPr>
        <p:spPr>
          <a:xfrm>
            <a:off x="4935220" y="680085"/>
            <a:ext cx="80645" cy="10287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61" name="Rectangles 60"/>
          <p:cNvSpPr/>
          <p:nvPr/>
        </p:nvSpPr>
        <p:spPr>
          <a:xfrm>
            <a:off x="3953510" y="2498725"/>
            <a:ext cx="2026285" cy="2330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</a:rPr>
              <a:t>    Insert Electronic Company Stamp at Document Footer</a:t>
            </a:r>
            <a:endParaRPr lang="en-US" altLang="en-US" sz="800" strike="noStrike" noProof="1">
              <a:solidFill>
                <a:schemeClr val="tx1"/>
              </a:solidFill>
            </a:endParaRPr>
          </a:p>
        </p:txBody>
      </p:sp>
      <p:sp>
        <p:nvSpPr>
          <p:cNvPr id="62" name="Rectangles 61"/>
          <p:cNvSpPr/>
          <p:nvPr/>
        </p:nvSpPr>
        <p:spPr>
          <a:xfrm>
            <a:off x="3950970" y="1463040"/>
            <a:ext cx="2026285" cy="231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  <a:sym typeface="+mn-ea"/>
              </a:rPr>
              <a:t>Apply to Each - New File</a:t>
            </a:r>
            <a:endParaRPr lang="zh-CN" altLang="en-US" sz="800" strike="noStrike" noProof="1">
              <a:solidFill>
                <a:schemeClr val="tx1"/>
              </a:solidFill>
              <a:ea typeface="宋体" panose="02010600030101010101" pitchFamily="2" charset="-122"/>
              <a:sym typeface="+mn-ea"/>
            </a:endParaRPr>
          </a:p>
        </p:txBody>
      </p:sp>
      <p:sp>
        <p:nvSpPr>
          <p:cNvPr id="63" name="Down Arrow 62"/>
          <p:cNvSpPr/>
          <p:nvPr/>
        </p:nvSpPr>
        <p:spPr>
          <a:xfrm>
            <a:off x="4935220" y="1694815"/>
            <a:ext cx="80645" cy="10287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pic>
        <p:nvPicPr>
          <p:cNvPr id="64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3510" y="793115"/>
            <a:ext cx="189230" cy="2305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5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5100" y="3267075"/>
            <a:ext cx="189230" cy="2305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6" name="Picture 1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225" y="4340860"/>
            <a:ext cx="212090" cy="2305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7" name="Picture 1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2560" y="3991610"/>
            <a:ext cx="197485" cy="2305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" name="Picture 1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2560" y="3618230"/>
            <a:ext cx="201295" cy="231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9" name="Picture 1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9545" y="5135880"/>
            <a:ext cx="201295" cy="2305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0" name="Down Arrow 69"/>
          <p:cNvSpPr/>
          <p:nvPr/>
        </p:nvSpPr>
        <p:spPr>
          <a:xfrm>
            <a:off x="4935220" y="1360170"/>
            <a:ext cx="80645" cy="10287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71" name="Down Arrow 70"/>
          <p:cNvSpPr/>
          <p:nvPr/>
        </p:nvSpPr>
        <p:spPr>
          <a:xfrm>
            <a:off x="4935220" y="3159760"/>
            <a:ext cx="80645" cy="10287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72" name="Down Arrow 71"/>
          <p:cNvSpPr/>
          <p:nvPr/>
        </p:nvSpPr>
        <p:spPr>
          <a:xfrm>
            <a:off x="4932680" y="2743835"/>
            <a:ext cx="80645" cy="10287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73" name="Rectangles 72"/>
          <p:cNvSpPr/>
          <p:nvPr/>
        </p:nvSpPr>
        <p:spPr>
          <a:xfrm>
            <a:off x="3950970" y="2853690"/>
            <a:ext cx="2026285" cy="231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</a:rPr>
              <a:t>   Save Updated Version of the Document</a:t>
            </a:r>
            <a:endParaRPr lang="en-US" altLang="en-US" sz="800" strike="noStrike" noProof="1">
              <a:solidFill>
                <a:schemeClr val="tx1"/>
              </a:solidFill>
            </a:endParaRPr>
          </a:p>
        </p:txBody>
      </p:sp>
      <p:pic>
        <p:nvPicPr>
          <p:cNvPr id="74" name="Picture 1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3510" y="1461770"/>
            <a:ext cx="214630" cy="2305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5" name="Rectangles 74"/>
          <p:cNvSpPr/>
          <p:nvPr/>
        </p:nvSpPr>
        <p:spPr>
          <a:xfrm>
            <a:off x="3948430" y="1136650"/>
            <a:ext cx="2026285" cy="2330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  <a:sym typeface="+mn-ea"/>
              </a:rPr>
              <a:t>    G</a:t>
            </a:r>
            <a:r>
              <a:rPr lang="en-US" altLang="en-US" sz="800" strike="noStrike" noProof="1">
                <a:solidFill>
                  <a:schemeClr val="tx1"/>
                </a:solidFill>
                <a:sym typeface="+mn-ea"/>
              </a:rPr>
              <a:t>et File Content (Company Standard Title &amp; Electronic Company Stamp)</a:t>
            </a:r>
            <a:endParaRPr lang="en-US" altLang="en-US" sz="800" strike="noStrike" noProof="1">
              <a:solidFill>
                <a:schemeClr val="tx1"/>
              </a:solidFill>
              <a:sym typeface="+mn-ea"/>
            </a:endParaRPr>
          </a:p>
        </p:txBody>
      </p:sp>
      <p:sp>
        <p:nvSpPr>
          <p:cNvPr id="76" name="Down Arrow 75"/>
          <p:cNvSpPr/>
          <p:nvPr/>
        </p:nvSpPr>
        <p:spPr>
          <a:xfrm>
            <a:off x="4932680" y="1033780"/>
            <a:ext cx="80645" cy="10287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pic>
        <p:nvPicPr>
          <p:cNvPr id="77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4620" y="2501900"/>
            <a:ext cx="225425" cy="2305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4620" y="2134235"/>
            <a:ext cx="225425" cy="2305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4620" y="1800860"/>
            <a:ext cx="225425" cy="2305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8905" y="2854960"/>
            <a:ext cx="225425" cy="2305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4620" y="1139825"/>
            <a:ext cx="225425" cy="2305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8905" y="450215"/>
            <a:ext cx="225425" cy="2305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4" name="Text Box 83"/>
          <p:cNvSpPr txBox="1"/>
          <p:nvPr/>
        </p:nvSpPr>
        <p:spPr>
          <a:xfrm>
            <a:off x="7112000" y="4479290"/>
            <a:ext cx="3048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b="1"/>
              <a:t>Workflow diagram recreated for illustration purposes (original system data is confidential).</a:t>
            </a:r>
            <a:endParaRPr lang="en-US" altLang="en-US" sz="14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äsentationsvorlage 2014 (16-10)">
  <a:themeElements>
    <a:clrScheme name="EHK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8C2332"/>
      </a:accent1>
      <a:accent2>
        <a:srgbClr val="D20A28"/>
      </a:accent2>
      <a:accent3>
        <a:srgbClr val="F07249"/>
      </a:accent3>
      <a:accent4>
        <a:srgbClr val="969696"/>
      </a:accent4>
      <a:accent5>
        <a:srgbClr val="5A5A5A"/>
      </a:accent5>
      <a:accent6>
        <a:srgbClr val="282828"/>
      </a:accent6>
      <a:hlink>
        <a:srgbClr val="FBE0BD"/>
      </a:hlink>
      <a:folHlink>
        <a:srgbClr val="BFBFBF"/>
      </a:folHlink>
    </a:clrScheme>
    <a:fontScheme name="Haefele_Praesentationsvorlage_10_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sz="1600" b="0" i="0" dirty="0" err="1" smtClean="0">
            <a:latin typeface="+mn-lt"/>
            <a:cs typeface="Helvetica Light"/>
          </a:defRPr>
        </a:defPPr>
      </a:lstStyle>
    </a:txDef>
  </a:objectDefaults>
  <a:extraClrSchemeLst>
    <a:extraClrScheme>
      <a:clrScheme name="Haefele_Praesentationsvorlage_10_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Präsentationsvorlage 2014 (16-10)</Template>
  <TotalTime>0</TotalTime>
  <Words>2159</Words>
  <Application>WPS Presentation</Application>
  <PresentationFormat>Custom</PresentationFormat>
  <Paragraphs>128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Arial</vt:lpstr>
      <vt:lpstr>宋体</vt:lpstr>
      <vt:lpstr>Wingdings</vt:lpstr>
      <vt:lpstr>ヒラギノ角ゴ Pro W3</vt:lpstr>
      <vt:lpstr>Yu Gothic</vt:lpstr>
      <vt:lpstr>Helvetica Light</vt:lpstr>
      <vt:lpstr>ヒラギノ角ゴ Pro W3</vt:lpstr>
      <vt:lpstr>Segoe Print</vt:lpstr>
      <vt:lpstr>Symbol</vt:lpstr>
      <vt:lpstr>ヒラギノ角ゴ Pro W3</vt:lpstr>
      <vt:lpstr>Arial</vt:lpstr>
      <vt:lpstr>Aptos</vt:lpstr>
      <vt:lpstr>微软雅黑</vt:lpstr>
      <vt:lpstr>Arial Unicode MS</vt:lpstr>
      <vt:lpstr>Segoe UI</vt:lpstr>
      <vt:lpstr>Präsentationsvorlage 2014 (16-10)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Häfele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Bernd Schatz</dc:creator>
  <cp:lastModifiedBy>jack cheng</cp:lastModifiedBy>
  <cp:revision>451</cp:revision>
  <cp:lastPrinted>2013-02-14T10:02:00Z</cp:lastPrinted>
  <dcterms:created xsi:type="dcterms:W3CDTF">2015-04-09T13:40:00Z</dcterms:created>
  <dcterms:modified xsi:type="dcterms:W3CDTF">2026-04-07T22:19:27Z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ICV">
    <vt:lpwstr>BBDB422DD30F41E1BFF4C18AC14A96C2_12</vt:lpwstr>
  </property>
  <property fmtid="{D5CDD505-2E9C-101B-9397-08002B2CF9AE}" pid="4" name="KSOProductBuildVer">
    <vt:lpwstr>1033-12.2.0.23196</vt:lpwstr>
  </property>
</Properties>
</file>