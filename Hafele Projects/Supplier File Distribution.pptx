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68" r:id="rId4"/>
    <p:sldId id="269" r:id="rId5"/>
    <p:sldId id="270" r:id="rId6"/>
    <p:sldId id="278" r:id="rId7"/>
    <p:sldId id="277" r:id="rId8"/>
  </p:sldIdLst>
  <p:sldSz cx="10160000" cy="5715000"/>
  <p:notesSz cx="6648450" cy="985012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4" userDrawn="1">
          <p15:clr>
            <a:srgbClr val="A4A3A4"/>
          </p15:clr>
        </p15:guide>
        <p15:guide id="2" orient="horz" pos="3375" userDrawn="1">
          <p15:clr>
            <a:srgbClr val="A4A3A4"/>
          </p15:clr>
        </p15:guide>
        <p15:guide id="3" orient="horz" pos="0" userDrawn="1">
          <p15:clr>
            <a:srgbClr val="A4A3A4"/>
          </p15:clr>
        </p15:guide>
        <p15:guide id="4" orient="horz" pos="654" userDrawn="1">
          <p15:clr>
            <a:srgbClr val="A4A3A4"/>
          </p15:clr>
        </p15:guide>
        <p15:guide id="5" orient="horz" pos="425" userDrawn="1">
          <p15:clr>
            <a:srgbClr val="A4A3A4"/>
          </p15:clr>
        </p15:guide>
        <p15:guide id="6" orient="horz" pos="3441" userDrawn="1">
          <p15:clr>
            <a:srgbClr val="A4A3A4"/>
          </p15:clr>
        </p15:guide>
        <p15:guide id="7" pos="3099" userDrawn="1">
          <p15:clr>
            <a:srgbClr val="A4A3A4"/>
          </p15:clr>
        </p15:guide>
        <p15:guide id="8" pos="6073" userDrawn="1">
          <p15:clr>
            <a:srgbClr val="A4A3A4"/>
          </p15:clr>
        </p15:guide>
        <p15:guide id="9" pos="3250" userDrawn="1">
          <p15:clr>
            <a:srgbClr val="A4A3A4"/>
          </p15:clr>
        </p15:guide>
        <p15:guide id="10" pos="982" userDrawn="1">
          <p15:clr>
            <a:srgbClr val="A4A3A4"/>
          </p15:clr>
        </p15:guide>
        <p15:guide id="11" pos="2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8D3D6"/>
    <a:srgbClr val="7D001E"/>
    <a:srgbClr val="640014"/>
    <a:srgbClr val="960000"/>
    <a:srgbClr val="696969"/>
    <a:srgbClr val="DC0000"/>
    <a:srgbClr val="960028"/>
    <a:srgbClr val="BD003B"/>
    <a:srgbClr val="DBE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956" y="64"/>
      </p:cViewPr>
      <p:guideLst>
        <p:guide orient="horz" pos="984"/>
        <p:guide orient="horz" pos="3375"/>
        <p:guide orient="horz"/>
        <p:guide orient="horz" pos="654"/>
        <p:guide orient="horz" pos="425"/>
        <p:guide orient="horz" pos="3441"/>
        <p:guide pos="3099"/>
        <p:guide pos="6073"/>
        <p:guide pos="3250"/>
        <p:guide pos="982"/>
        <p:guide pos="27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72"/>
        <p:guide pos="20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8930520826331"/>
          <c:y val="0.196286065641919"/>
          <c:w val="0.665818268923969"/>
          <c:h val="0.7603749796800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CA3AF"/>
              </a:solidFill>
              <a:ln w="9525" cap="flat" cmpd="sng" algn="ctr">
                <a:solidFill>
                  <a:srgbClr val="9CA3AF"/>
                </a:solidFill>
                <a:prstDash val="solid"/>
                <a:round/>
              </a:ln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ln w="9525" cap="flat" cmpd="sng" algn="ctr">
                <a:solidFill>
                  <a:srgbClr val="22C55E"/>
                </a:solidFill>
                <a:prstDash val="solid"/>
                <a:round/>
              </a:ln>
            </c:spPr>
          </c:dPt>
          <c:dLbls>
            <c:dLbl>
              <c:idx val="0"/>
              <c:layout>
                <c:manualLayout>
                  <c:x val="-2.18722304147205e-16"/>
                  <c:y val="-0.0037429097221963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800" b="1" i="0" u="none" strike="noStrike" kern="1200" baseline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defRPr>
                    </a:pPr>
                    <a:r>
                      <a:t>12</a:t>
                    </a: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800" b="1" i="0" u="none" strike="noStrike" kern="1200" baseline="0">
                      <a:solidFill>
                        <a:schemeClr val="tx1"/>
                      </a:solidFill>
                      <a:latin typeface="Aptos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800" b="1" i="0" u="none" strike="noStrike" kern="1200" baseline="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defRPr>
                    </a:pPr>
                    <a:r>
                      <a:t>2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800" b="1" i="0" u="none" strike="noStrike" kern="1200" baseline="0">
                      <a:solidFill>
                        <a:schemeClr val="tx1"/>
                      </a:solidFill>
                      <a:latin typeface="Aptos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090184787353"/>
                      <c:h val="0.10145255299637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Manual process</c:v>
                </c:pt>
                <c:pt idx="1">
                  <c:v>Automated process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F8FAF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F2937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"/>
          <c:min val="0"/>
        </c:scaling>
        <c:delete val="0"/>
        <c:axPos val="t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00" b="0"/>
                  <a:t>Minutes</a:t>
                </a:r>
                <a:endParaRPr sz="1000" b="0"/>
              </a:p>
            </c:rich>
          </c:tx>
          <c:layout/>
          <c:overlay val="0"/>
        </c:title>
        <c:numFmt formatCode="General" sourceLinked="1"/>
        <c:majorTickMark val="cross"/>
        <c:minorTickMark val="none"/>
        <c:tickLblPos val="nextTo"/>
        <c:spPr>
          <a:ln w="9525" cap="flat" cmpd="sng" algn="ctr">
            <a:solidFill>
              <a:srgbClr val="E5E7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B7280"/>
                </a:solidFill>
                <a:latin typeface="Aptos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b60b151-6250-4ae6-a853-8f49a561d5b7}"/>
      </c:ext>
    </c:extLst>
  </c:chart>
  <c:txPr>
    <a:bodyPr rot="120000"/>
    <a:lstStyle/>
    <a:p>
      <a:pPr>
        <a:defRPr lang="en-US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EC345535-AF3F-4D13-83AC-666A27668071}" type="datetime1">
              <a:rPr lang="de-DE" smtClean="0"/>
            </a:fld>
            <a:endParaRPr lang="de-DE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1AC0386C-7505-488B-926D-937D76EB9CDE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64B208A8-9644-44A7-92E1-5EE79CE6CDB0}" type="datetime1">
              <a:rPr lang="de-DE" smtClean="0"/>
            </a:fld>
            <a:endParaRPr 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863" y="739775"/>
            <a:ext cx="6562725" cy="3692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4845" y="4678958"/>
            <a:ext cx="5318760" cy="443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/>
          <a:p>
            <a:pPr lvl="0"/>
            <a:r>
              <a:rPr lang="de-DE" noProof="0"/>
              <a:t>Textmasterformate durch Klicken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BC72A1BE-0E9C-48B4-B648-3C26A6064B17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456000" y="676276"/>
            <a:ext cx="8704000" cy="5042693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559612" y="3397727"/>
            <a:ext cx="8083570" cy="359874"/>
          </a:xfrm>
          <a:prstGeom prst="rect">
            <a:avLst/>
          </a:prstGeom>
          <a:ln w="0">
            <a:noFill/>
            <a:prstDash val="solid"/>
          </a:ln>
          <a:effectLst/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Occasion D</a:t>
            </a:r>
            <a:r>
              <a:rPr lang="en-US" altLang="zh-CN"/>
              <a:t>ate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1559609" y="3757085"/>
            <a:ext cx="8080898" cy="96062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Title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1559278" y="5318125"/>
            <a:ext cx="8081229" cy="3596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Autor</a:t>
            </a:r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0" y="676276"/>
            <a:ext cx="1456000" cy="5042693"/>
            <a:chOff x="0" y="898525"/>
            <a:chExt cx="1310400" cy="5964238"/>
          </a:xfrm>
        </p:grpSpPr>
        <p:sp>
          <p:nvSpPr>
            <p:cNvPr id="9" name="Rechteck 8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159376" y="1562100"/>
            <a:ext cx="4483806" cy="3816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4"/>
            <a:endParaRPr lang="de-DE"/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9" y="1562100"/>
            <a:ext cx="4494803" cy="38163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53975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7855" y="5462589"/>
            <a:ext cx="8185329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10" y="674687"/>
            <a:ext cx="9203972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39209" y="1039812"/>
            <a:ext cx="9203971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7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3816350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 mit Text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2563" y="5462589"/>
            <a:ext cx="8190621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7"/>
            <a:ext cx="9193391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39208" y="3555324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456000" y="676276"/>
            <a:ext cx="8704000" cy="5038727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0" y="676273"/>
            <a:ext cx="1456000" cy="5038728"/>
            <a:chOff x="0" y="898525"/>
            <a:chExt cx="1310400" cy="5964238"/>
          </a:xfrm>
        </p:grpSpPr>
        <p:sp>
          <p:nvSpPr>
            <p:cNvPr id="12" name="Rechteck 11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559803" y="4957735"/>
            <a:ext cx="6480528" cy="359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Edit Text Master Format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9"/>
            <a:ext cx="8187182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456001" y="5462583"/>
            <a:ext cx="8704000" cy="252417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bg1">
                  <a:lumMod val="85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8"/>
            <a:ext cx="8187181" cy="2524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grpSp>
        <p:nvGrpSpPr>
          <p:cNvPr id="20" name="Gruppieren 19"/>
          <p:cNvGrpSpPr/>
          <p:nvPr/>
        </p:nvGrpSpPr>
        <p:grpSpPr>
          <a:xfrm>
            <a:off x="0" y="5462241"/>
            <a:ext cx="1456000" cy="252416"/>
            <a:chOff x="0" y="898525"/>
            <a:chExt cx="1310400" cy="5964238"/>
          </a:xfrm>
        </p:grpSpPr>
        <p:sp>
          <p:nvSpPr>
            <p:cNvPr id="21" name="Rechteck 20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3" name="Grafik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412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+mj-lt"/>
          <a:ea typeface="ヒラギノ角ゴ Pro W3" charset="0"/>
          <a:cs typeface="ヒラギノ角ゴ Pro W3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5pPr>
      <a:lvl6pPr marL="508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6pPr>
      <a:lvl7pPr marL="1016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7pPr>
      <a:lvl8pPr marL="1524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8pPr>
      <a:lvl9pPr marL="2032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9pPr>
    </p:titleStyle>
    <p:bodyStyle>
      <a:lvl1pPr marL="381000" indent="-381000" algn="l" rtl="0" eaLnBrk="1" fontAlgn="base" hangingPunct="1">
        <a:spcBef>
          <a:spcPct val="20000"/>
        </a:spcBef>
        <a:spcAft>
          <a:spcPct val="0"/>
        </a:spcAft>
        <a:buChar char="•"/>
        <a:defRPr sz="311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1pPr>
      <a:lvl2pPr marL="825500" indent="-317500" algn="l" rtl="0" eaLnBrk="1" fontAlgn="base" hangingPunct="1">
        <a:spcBef>
          <a:spcPct val="20000"/>
        </a:spcBef>
        <a:spcAft>
          <a:spcPct val="0"/>
        </a:spcAft>
        <a:buChar char="–"/>
        <a:defRPr sz="2665">
          <a:solidFill>
            <a:schemeClr val="tx1"/>
          </a:solidFill>
          <a:latin typeface="+mn-lt"/>
          <a:ea typeface="ヒラギノ角ゴ Pro W3" charset="0"/>
        </a:defRPr>
      </a:lvl2pPr>
      <a:lvl3pPr marL="1270000" indent="-254000" algn="l" rtl="0" eaLnBrk="1" fontAlgn="base" hangingPunct="1">
        <a:spcBef>
          <a:spcPct val="20000"/>
        </a:spcBef>
        <a:spcAft>
          <a:spcPct val="0"/>
        </a:spcAft>
        <a:buChar char="•"/>
        <a:defRPr sz="2220">
          <a:solidFill>
            <a:schemeClr val="tx1"/>
          </a:solidFill>
          <a:latin typeface="+mn-lt"/>
          <a:ea typeface="ヒラギノ角ゴ Pro W3" charset="0"/>
        </a:defRPr>
      </a:lvl3pPr>
      <a:lvl4pPr marL="1778000" indent="-2540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charset="0"/>
        </a:defRPr>
      </a:lvl4pPr>
      <a:lvl5pPr marL="2286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charset="0"/>
        </a:defRPr>
      </a:lvl5pPr>
      <a:lvl6pPr marL="2794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302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810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18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altLang="en-US" sz="2800">
                <a:sym typeface="+mn-ea"/>
              </a:rPr>
              <a:t>Supplier File Distribution Automation Using Power Automate</a:t>
            </a:r>
            <a:endParaRPr lang="de-DE" sz="2800" dirty="0" err="1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de-DE" dirty="0">
                <a:ea typeface="ヒラギノ角ゴ Pro W3"/>
              </a:rPr>
              <a:t>Jack</a:t>
            </a:r>
            <a:endParaRPr lang="de-DE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Problem</a:t>
            </a:r>
            <a:endParaRPr lang="en-US" altLang="en-US" sz="265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7040" y="1549400"/>
            <a:ext cx="9328785" cy="19996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Supplier files were distributed manually via email</a:t>
            </a:r>
            <a:endParaRPr lang="en-US" altLang="en-US" sz="160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Staff had to identify the correct supplier for each file</a:t>
            </a:r>
            <a:endParaRPr lang="en-US" altLang="en-US" sz="160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Repetitive sending increased admin workload</a:t>
            </a:r>
            <a:endParaRPr lang="en-US" altLang="en-US" sz="160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Risk of wrong recipient, delayed sending, or missed files</a:t>
            </a:r>
            <a:endParaRPr lang="en-US" altLang="en-US" sz="160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No standardised process for supplier file distribution</a:t>
            </a:r>
            <a:endParaRPr lang="en-US" altLang="en-US" sz="160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Solution Overview</a:t>
            </a:r>
            <a:endParaRPr lang="en-US" altLang="en-US" sz="2650" b="1" dirty="0">
              <a:solidFill>
                <a:schemeClr val="tx1"/>
              </a:solidFill>
              <a:cs typeface="Arial" panose="020B0604020202020204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515" y="1549400"/>
            <a:ext cx="9722485" cy="2957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Built </a:t>
            </a:r>
            <a:r>
              <a:rPr lang="en-US" altLang="en-US" b="1">
                <a:sym typeface="+mn-ea"/>
              </a:rPr>
              <a:t>event-triggered file distribution automation</a:t>
            </a:r>
            <a:endParaRPr lang="en-US" altLang="en-US" b="1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Triggered when a new file is added to a designated SharePoint folder</a:t>
            </a:r>
            <a:endParaRPr lang="en-US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Matched supplier name from file naming convention</a:t>
            </a:r>
            <a:endParaRPr lang="en-US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Pulled supplier email details from SharePoint list</a:t>
            </a:r>
            <a:endParaRPr lang="en-US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Automatically sent the correct file to the correct supplier</a:t>
            </a:r>
            <a:endParaRPr lang="en-US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Standardised outbound supplier communication processImplemented </a:t>
            </a:r>
            <a:r>
              <a:rPr lang="en-US" altLang="en-US" b="1">
                <a:sym typeface="+mn-ea"/>
              </a:rPr>
              <a:t>failure &amp; timeout alerts</a:t>
            </a:r>
            <a:r>
              <a:rPr lang="en-US" altLang="en-US">
                <a:sym typeface="+mn-ea"/>
              </a:rPr>
              <a:t> to maintenance team</a:t>
            </a:r>
            <a:endParaRPr lang="en-US" altLang="en-US"/>
          </a:p>
          <a:p>
            <a:pPr algn="ctr"/>
            <a:endParaRPr lang="en-US" sz="1600" b="0" i="0" dirty="0" err="1">
              <a:latin typeface="+mn-lt"/>
              <a:cs typeface="Helvetic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Impact</a:t>
            </a:r>
            <a:endParaRPr lang="en-US" altLang="en-US" sz="2650" b="1" dirty="0">
              <a:solidFill>
                <a:schemeClr val="tx1"/>
              </a:solidFill>
              <a:ea typeface="ヒラギノ角ゴ Pro W3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3579" y="1370255"/>
          <a:ext cx="5280935" cy="3223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62664" y="1939854"/>
            <a:ext cx="2434717" cy="2983385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8" name="TextBox 6"/>
          <p:cNvSpPr txBox="1"/>
          <p:nvPr/>
        </p:nvSpPr>
        <p:spPr>
          <a:xfrm>
            <a:off x="6268415" y="2145604"/>
            <a:ext cx="887730" cy="252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7280"/>
                </a:solidFill>
                <a:latin typeface="Aptos"/>
              </a:defRPr>
            </a:pPr>
            <a:r>
              <a:rPr sz="1050"/>
              <a:t>Time saved</a:t>
            </a:r>
            <a:endParaRPr sz="1050"/>
          </a:p>
        </p:txBody>
      </p:sp>
      <p:sp>
        <p:nvSpPr>
          <p:cNvPr id="9" name="TextBox 7"/>
          <p:cNvSpPr txBox="1"/>
          <p:nvPr/>
        </p:nvSpPr>
        <p:spPr>
          <a:xfrm>
            <a:off x="6247840" y="2419939"/>
            <a:ext cx="1638300" cy="575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rPr sz="2100"/>
              <a:t>~</a:t>
            </a:r>
            <a:r>
              <a:rPr lang="en-US" sz="2100"/>
              <a:t>8</a:t>
            </a:r>
            <a:r>
              <a:rPr sz="2100"/>
              <a:t>–</a:t>
            </a:r>
            <a:r>
              <a:rPr lang="en-US" sz="2100"/>
              <a:t>10</a:t>
            </a:r>
            <a:r>
              <a:rPr sz="2100"/>
              <a:t> mins</a:t>
            </a:r>
            <a:endParaRPr sz="2100"/>
          </a:p>
          <a:p>
            <a:pPr>
              <a:defRPr sz="1400">
                <a:solidFill>
                  <a:srgbClr val="6B7280"/>
                </a:solidFill>
                <a:latin typeface="Aptos"/>
              </a:defRPr>
            </a:pPr>
            <a:r>
              <a:rPr sz="1050"/>
              <a:t>per </a:t>
            </a:r>
            <a:r>
              <a:rPr lang="en-US" sz="1050"/>
              <a:t>file</a:t>
            </a:r>
            <a:endParaRPr lang="en-US" sz="1050"/>
          </a:p>
        </p:txBody>
      </p:sp>
      <p:sp>
        <p:nvSpPr>
          <p:cNvPr id="10" name="Rectangle 8"/>
          <p:cNvSpPr/>
          <p:nvPr/>
        </p:nvSpPr>
        <p:spPr>
          <a:xfrm>
            <a:off x="6234124" y="3037191"/>
            <a:ext cx="2091799" cy="685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1" name="TextBox 9"/>
          <p:cNvSpPr txBox="1"/>
          <p:nvPr/>
        </p:nvSpPr>
        <p:spPr>
          <a:xfrm>
            <a:off x="6268415" y="3174358"/>
            <a:ext cx="2023215" cy="10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Eliminates manual supplieridentification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Removes repetitive email drafting</a:t>
            </a:r>
            <a:r>
              <a:rPr lang="zh-CN" altLang="en-US" sz="825"/>
              <a:t>。</a:t>
            </a:r>
            <a:r>
              <a:rPr lang="en-US" altLang="en-US" sz="825"/>
              <a:t>and attachment handling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Ensures consistent and timelyfile delivery</a:t>
            </a:r>
            <a:endParaRPr lang="en-US" altLang="en-US" sz="825"/>
          </a:p>
        </p:txBody>
      </p:sp>
      <p:sp>
        <p:nvSpPr>
          <p:cNvPr id="12" name="TextBox 10"/>
          <p:cNvSpPr txBox="1"/>
          <p:nvPr/>
        </p:nvSpPr>
        <p:spPr>
          <a:xfrm>
            <a:off x="463579" y="4727677"/>
            <a:ext cx="2455545" cy="195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rPr sz="675"/>
              <a:t>Estimates based on typical </a:t>
            </a:r>
            <a:r>
              <a:rPr lang="en-US" sz="675"/>
              <a:t>file </a:t>
            </a:r>
            <a:r>
              <a:rPr sz="675"/>
              <a:t>handling time per </a:t>
            </a:r>
            <a:r>
              <a:rPr lang="en-US" sz="675"/>
              <a:t>document</a:t>
            </a:r>
            <a:r>
              <a:rPr sz="675"/>
              <a:t>.</a:t>
            </a:r>
            <a:endParaRPr sz="675"/>
          </a:p>
        </p:txBody>
      </p:sp>
      <p:sp>
        <p:nvSpPr>
          <p:cNvPr id="13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>
                <a:sym typeface="+mn-ea"/>
              </a:rPr>
              <a:t>Estimated process effort for </a:t>
            </a:r>
            <a:r>
              <a:rPr lang="en-US" altLang="en-US">
                <a:sym typeface="+mn-ea"/>
              </a:rPr>
              <a:t>supplier file distribution process</a:t>
            </a:r>
            <a:endParaRPr lang="en-US" altLang="en-US"/>
          </a:p>
          <a:p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7047603" y="1370216"/>
            <a:ext cx="1440255" cy="37721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rPr sz="825"/>
              <a:t>≈ </a:t>
            </a:r>
            <a:r>
              <a:rPr lang="en-US" sz="825"/>
              <a:t>80</a:t>
            </a:r>
            <a:r>
              <a:rPr sz="825"/>
              <a:t>–90% less effort</a:t>
            </a:r>
            <a:endParaRPr sz="8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700" b="1">
                <a:solidFill>
                  <a:schemeClr val="tx1"/>
                </a:solidFill>
                <a:sym typeface="+mn-ea"/>
              </a:rPr>
              <a:t>Flow DESCRIPTION</a:t>
            </a:r>
            <a:endParaRPr lang="en-US" altLang="en-US" sz="27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6405" y="1421765"/>
            <a:ext cx="9713595" cy="1660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b="1">
                <a:sym typeface="+mn-ea"/>
              </a:rPr>
              <a:t>Trigger: </a:t>
            </a:r>
            <a:r>
              <a:rPr lang="en-US" altLang="en-US">
                <a:sym typeface="+mn-ea"/>
              </a:rPr>
              <a:t>New file added to designated SharePoint folder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Read file metadata and file name</a:t>
            </a:r>
            <a:endParaRPr lang="en-US" altLang="en-US">
              <a:sym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Extract supplier name from file name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Match </a:t>
            </a:r>
            <a:r>
              <a:rPr lang="en-US" altLang="en-US">
                <a:sym typeface="+mn-ea"/>
              </a:rPr>
              <a:t>corresponding </a:t>
            </a:r>
            <a:r>
              <a:rPr lang="en-US" altLang="en-US">
                <a:sym typeface="+mn-ea"/>
              </a:rPr>
              <a:t>supplier information from supplier list</a:t>
            </a:r>
            <a:endParaRPr lang="en-US" altLang="en-US">
              <a:sym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Retrieve supplier email address &amp; send uploaded file/s as attachment/s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>
                <a:sym typeface="+mn-ea"/>
              </a:rPr>
              <a:t>Supplier File Distribution Automation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grpSp>
        <p:nvGrpSpPr>
          <p:cNvPr id="85" name="Group 84"/>
          <p:cNvGrpSpPr/>
          <p:nvPr/>
        </p:nvGrpSpPr>
        <p:grpSpPr>
          <a:xfrm>
            <a:off x="3517900" y="421005"/>
            <a:ext cx="3030855" cy="5010785"/>
            <a:chOff x="5687" y="868"/>
            <a:chExt cx="4626" cy="7736"/>
          </a:xfrm>
        </p:grpSpPr>
        <p:sp>
          <p:nvSpPr>
            <p:cNvPr id="10" name="Rounded Rectangle 9"/>
            <p:cNvSpPr/>
            <p:nvPr/>
          </p:nvSpPr>
          <p:spPr>
            <a:xfrm>
              <a:off x="5799" y="7730"/>
              <a:ext cx="4515" cy="87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757" y="5483"/>
              <a:ext cx="4515" cy="19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687" y="1534"/>
              <a:ext cx="4515" cy="3526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15" name="Rectangles 14"/>
            <p:cNvSpPr/>
            <p:nvPr/>
          </p:nvSpPr>
          <p:spPr>
            <a:xfrm>
              <a:off x="6126" y="1401"/>
              <a:ext cx="3686" cy="36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sz="800" strike="noStrike" noProof="1"/>
                <a:t>Scope - Try</a:t>
              </a:r>
              <a:endParaRPr lang="en-US" sz="800" strike="noStrike" noProof="1"/>
            </a:p>
          </p:txBody>
        </p:sp>
        <p:sp>
          <p:nvSpPr>
            <p:cNvPr id="37" name="Rectangles 36"/>
            <p:cNvSpPr/>
            <p:nvPr/>
          </p:nvSpPr>
          <p:spPr>
            <a:xfrm>
              <a:off x="6158" y="5245"/>
              <a:ext cx="3686" cy="36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sz="800" strike="noStrike" noProof="1"/>
                <a:t>Scope - Catch</a:t>
              </a:r>
              <a:endParaRPr lang="en-US" sz="800" strike="noStrike" noProof="1"/>
            </a:p>
          </p:txBody>
        </p:sp>
        <p:sp>
          <p:nvSpPr>
            <p:cNvPr id="38" name="Rectangles 37"/>
            <p:cNvSpPr/>
            <p:nvPr/>
          </p:nvSpPr>
          <p:spPr>
            <a:xfrm>
              <a:off x="6165" y="7572"/>
              <a:ext cx="3686" cy="36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sz="800" strike="noStrike" noProof="1"/>
                <a:t>Scope - Finally</a:t>
              </a:r>
              <a:endParaRPr lang="en-US" sz="800" strike="noStrike" noProof="1"/>
            </a:p>
          </p:txBody>
        </p:sp>
        <p:pic>
          <p:nvPicPr>
            <p:cNvPr id="39" name="Pictur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70" y="7579"/>
              <a:ext cx="344" cy="3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" name="Rectangles 39"/>
            <p:cNvSpPr/>
            <p:nvPr/>
          </p:nvSpPr>
          <p:spPr>
            <a:xfrm>
              <a:off x="6126" y="2964"/>
              <a:ext cx="3686" cy="3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  <a:sym typeface="+mn-ea"/>
                </a:rPr>
                <a:t>     Get File Content (Extract Supplier Name from File Name)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41" name="Rectangles 40"/>
            <p:cNvSpPr/>
            <p:nvPr/>
          </p:nvSpPr>
          <p:spPr>
            <a:xfrm>
              <a:off x="6126" y="3504"/>
              <a:ext cx="3686" cy="3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  <a:sym typeface="+mn-ea"/>
                </a:rPr>
                <a:t>Get File Content (properties only) 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42" name="Down Arrow 41"/>
            <p:cNvSpPr/>
            <p:nvPr/>
          </p:nvSpPr>
          <p:spPr>
            <a:xfrm>
              <a:off x="7917" y="3326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50" name="Down Arrow 49"/>
            <p:cNvSpPr/>
            <p:nvPr/>
          </p:nvSpPr>
          <p:spPr>
            <a:xfrm>
              <a:off x="7917" y="3884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51" name="Rectangles 50"/>
            <p:cNvSpPr/>
            <p:nvPr/>
          </p:nvSpPr>
          <p:spPr>
            <a:xfrm>
              <a:off x="6158" y="5785"/>
              <a:ext cx="3686" cy="3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Capture Error Details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52" name="Down Arrow 51"/>
            <p:cNvSpPr/>
            <p:nvPr/>
          </p:nvSpPr>
          <p:spPr>
            <a:xfrm>
              <a:off x="7946" y="5607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53" name="Down Arrow 52"/>
            <p:cNvSpPr/>
            <p:nvPr/>
          </p:nvSpPr>
          <p:spPr>
            <a:xfrm>
              <a:off x="7946" y="6164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54" name="Rectangles 53"/>
            <p:cNvSpPr/>
            <p:nvPr/>
          </p:nvSpPr>
          <p:spPr>
            <a:xfrm>
              <a:off x="6158" y="6369"/>
              <a:ext cx="3686" cy="3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Update Status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→ Failed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55" name="Rectangles 54"/>
            <p:cNvSpPr/>
            <p:nvPr/>
          </p:nvSpPr>
          <p:spPr>
            <a:xfrm>
              <a:off x="6158" y="6908"/>
              <a:ext cx="3686" cy="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Send Failure Email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(Maintenance)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56" name="Down Arrow 55"/>
            <p:cNvSpPr/>
            <p:nvPr/>
          </p:nvSpPr>
          <p:spPr>
            <a:xfrm>
              <a:off x="7946" y="6731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57" name="Down Arrow 56"/>
            <p:cNvSpPr/>
            <p:nvPr/>
          </p:nvSpPr>
          <p:spPr>
            <a:xfrm>
              <a:off x="7956" y="7412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58" name="Down Arrow 57"/>
            <p:cNvSpPr/>
            <p:nvPr/>
          </p:nvSpPr>
          <p:spPr>
            <a:xfrm>
              <a:off x="7956" y="7936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59" name="Rectangles 58"/>
            <p:cNvSpPr/>
            <p:nvPr/>
          </p:nvSpPr>
          <p:spPr>
            <a:xfrm>
              <a:off x="6168" y="8141"/>
              <a:ext cx="3684" cy="3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Write Audit Log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60" name="Rectangles 59"/>
            <p:cNvSpPr/>
            <p:nvPr/>
          </p:nvSpPr>
          <p:spPr>
            <a:xfrm>
              <a:off x="6126" y="868"/>
              <a:ext cx="3686" cy="3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   Trigger When New File is Added (SharePoint Folder)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61" name="Down Arrow 60"/>
            <p:cNvSpPr/>
            <p:nvPr/>
          </p:nvSpPr>
          <p:spPr>
            <a:xfrm>
              <a:off x="7917" y="1230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62" name="Down Arrow 61"/>
            <p:cNvSpPr/>
            <p:nvPr/>
          </p:nvSpPr>
          <p:spPr>
            <a:xfrm>
              <a:off x="7917" y="1763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63" name="Rectangles 62"/>
            <p:cNvSpPr/>
            <p:nvPr/>
          </p:nvSpPr>
          <p:spPr>
            <a:xfrm>
              <a:off x="6131" y="4052"/>
              <a:ext cx="3686" cy="3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Match Supplier Name with Corresponding Supplier Record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64" name="Rectangles 63"/>
            <p:cNvSpPr/>
            <p:nvPr/>
          </p:nvSpPr>
          <p:spPr>
            <a:xfrm>
              <a:off x="6126" y="2445"/>
              <a:ext cx="3686" cy="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  <a:sym typeface="+mn-ea"/>
                </a:rPr>
                <a:t>Apply to Each - New File</a:t>
              </a:r>
              <a:endParaRPr lang="zh-CN" altLang="en-US" sz="800" strike="noStrike" noProof="1">
                <a:solidFill>
                  <a:schemeClr val="tx1"/>
                </a:solidFill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65" name="Down Arrow 64"/>
            <p:cNvSpPr/>
            <p:nvPr/>
          </p:nvSpPr>
          <p:spPr>
            <a:xfrm>
              <a:off x="7917" y="2804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pic>
          <p:nvPicPr>
            <p:cNvPr id="66" name="Pictur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31" y="1405"/>
              <a:ext cx="344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7" name="Pictur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70" y="5245"/>
              <a:ext cx="344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8" name="Picture 1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41" y="6911"/>
              <a:ext cx="386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9" name="Picture 1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5" y="6369"/>
              <a:ext cx="359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0" name="Picture 1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5" y="5789"/>
              <a:ext cx="366" cy="3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" name="Picture 1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8" y="8145"/>
              <a:ext cx="366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2" name="Rectangles 71"/>
            <p:cNvSpPr/>
            <p:nvPr/>
          </p:nvSpPr>
          <p:spPr>
            <a:xfrm>
              <a:off x="6126" y="1923"/>
              <a:ext cx="3686" cy="3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  <a:sym typeface="+mn-ea"/>
                </a:rPr>
                <a:t>    Get Supplier Information from SharePoint List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sp>
          <p:nvSpPr>
            <p:cNvPr id="73" name="Down Arrow 72"/>
            <p:cNvSpPr/>
            <p:nvPr/>
          </p:nvSpPr>
          <p:spPr>
            <a:xfrm>
              <a:off x="7917" y="2285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74" name="Down Arrow 73"/>
            <p:cNvSpPr/>
            <p:nvPr/>
          </p:nvSpPr>
          <p:spPr>
            <a:xfrm>
              <a:off x="7917" y="5078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75" name="Down Arrow 74"/>
            <p:cNvSpPr/>
            <p:nvPr/>
          </p:nvSpPr>
          <p:spPr>
            <a:xfrm>
              <a:off x="7912" y="4432"/>
              <a:ext cx="147" cy="16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sz="800" strike="noStrike" noProof="1"/>
            </a:p>
          </p:txBody>
        </p:sp>
        <p:sp>
          <p:nvSpPr>
            <p:cNvPr id="76" name="Rectangles 75"/>
            <p:cNvSpPr/>
            <p:nvPr/>
          </p:nvSpPr>
          <p:spPr>
            <a:xfrm>
              <a:off x="6126" y="4603"/>
              <a:ext cx="3686" cy="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en-US" altLang="en-US" sz="800" strike="noStrike" noProof="1">
                  <a:solidFill>
                    <a:schemeClr val="tx1"/>
                  </a:solidFill>
                </a:rPr>
                <a:t>   Send Email to Corresponding Supplier with File Attached</a:t>
              </a:r>
              <a:endParaRPr lang="en-US" altLang="en-US" sz="800" strike="noStrike" noProof="1">
                <a:solidFill>
                  <a:schemeClr val="tx1"/>
                </a:solidFill>
              </a:endParaRPr>
            </a:p>
          </p:txBody>
        </p:sp>
        <p:pic>
          <p:nvPicPr>
            <p:cNvPr id="77" name="Pictur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04" y="4592"/>
              <a:ext cx="386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8" name="Picture 10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6" y="881"/>
              <a:ext cx="359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9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1" y="3508"/>
              <a:ext cx="359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1" y="2969"/>
              <a:ext cx="359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1" y="4044"/>
              <a:ext cx="359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6" y="1938"/>
              <a:ext cx="359" cy="35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3" name="Picture 1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1" y="2442"/>
              <a:ext cx="391" cy="35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86" name="Text Box 85"/>
          <p:cNvSpPr txBox="1"/>
          <p:nvPr/>
        </p:nvSpPr>
        <p:spPr>
          <a:xfrm>
            <a:off x="7112000" y="450977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/>
              <a:t>Workflow diagram recreated for illustration purposes (original system data is confidential).</a:t>
            </a:r>
            <a:endParaRPr lang="en-US" altLang="en-US" sz="1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svorlage 2014 (16-10)">
  <a:themeElements>
    <a:clrScheme name="EHK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C2332"/>
      </a:accent1>
      <a:accent2>
        <a:srgbClr val="D20A28"/>
      </a:accent2>
      <a:accent3>
        <a:srgbClr val="F07249"/>
      </a:accent3>
      <a:accent4>
        <a:srgbClr val="969696"/>
      </a:accent4>
      <a:accent5>
        <a:srgbClr val="5A5A5A"/>
      </a:accent5>
      <a:accent6>
        <a:srgbClr val="282828"/>
      </a:accent6>
      <a:hlink>
        <a:srgbClr val="FBE0BD"/>
      </a:hlink>
      <a:folHlink>
        <a:srgbClr val="BFBFBF"/>
      </a:folHlink>
    </a:clrScheme>
    <a:fontScheme name="Haefele_Praesentationsvorlage_10_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600" b="0" i="0" dirty="0" err="1" smtClean="0">
            <a:latin typeface="+mn-lt"/>
            <a:cs typeface="Helvetica Light"/>
          </a:defRPr>
        </a:defPPr>
      </a:lstStyle>
    </a:txDef>
  </a:objectDefaults>
  <a:extraClrSchemeLst>
    <a:extraClrScheme>
      <a:clrScheme name="Haefele_Praesentationsvorlage_10_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 2014 (16-10)</Template>
  <TotalTime>0</TotalTime>
  <Words>1930</Words>
  <Application>WPS Presentation</Application>
  <PresentationFormat>Custom</PresentationFormat>
  <Paragraphs>103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ヒラギノ角ゴ Pro W3</vt:lpstr>
      <vt:lpstr>Yu Gothic</vt:lpstr>
      <vt:lpstr>Helvetica Light</vt:lpstr>
      <vt:lpstr>ヒラギノ角ゴ Pro W3</vt:lpstr>
      <vt:lpstr>Segoe Print</vt:lpstr>
      <vt:lpstr>Symbol</vt:lpstr>
      <vt:lpstr>ヒラギノ角ゴ Pro W3</vt:lpstr>
      <vt:lpstr>Arial</vt:lpstr>
      <vt:lpstr>Aptos</vt:lpstr>
      <vt:lpstr>微软雅黑</vt:lpstr>
      <vt:lpstr>Arial Unicode MS</vt:lpstr>
      <vt:lpstr>Segoe UI</vt:lpstr>
      <vt:lpstr>Präsentationsvorlage 2014 (16-10)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Häfele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Bernd Schatz</dc:creator>
  <cp:lastModifiedBy>jack cheng</cp:lastModifiedBy>
  <cp:revision>452</cp:revision>
  <cp:lastPrinted>2013-02-14T10:02:00Z</cp:lastPrinted>
  <dcterms:created xsi:type="dcterms:W3CDTF">2015-04-09T13:40:00Z</dcterms:created>
  <dcterms:modified xsi:type="dcterms:W3CDTF">2026-04-07T21:54:40Z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ICV">
    <vt:lpwstr>85A314CE5D614AA5BE8F503123363F13_12</vt:lpwstr>
  </property>
  <property fmtid="{D5CDD505-2E9C-101B-9397-08002B2CF9AE}" pid="4" name="KSOProductBuildVer">
    <vt:lpwstr>1033-12.2.0.23196</vt:lpwstr>
  </property>
</Properties>
</file>