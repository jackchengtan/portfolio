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68" r:id="rId4"/>
    <p:sldId id="269" r:id="rId5"/>
    <p:sldId id="270" r:id="rId6"/>
    <p:sldId id="278" r:id="rId7"/>
    <p:sldId id="279" r:id="rId8"/>
  </p:sldIdLst>
  <p:sldSz cx="10160000" cy="5715000"/>
  <p:notesSz cx="6648450" cy="985012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4" userDrawn="1">
          <p15:clr>
            <a:srgbClr val="A4A3A4"/>
          </p15:clr>
        </p15:guide>
        <p15:guide id="2" orient="horz" pos="3388" userDrawn="1">
          <p15:clr>
            <a:srgbClr val="A4A3A4"/>
          </p15:clr>
        </p15:guide>
        <p15:guide id="3" orient="horz" pos="0" userDrawn="1">
          <p15:clr>
            <a:srgbClr val="A4A3A4"/>
          </p15:clr>
        </p15:guide>
        <p15:guide id="4" orient="horz" pos="654" userDrawn="1">
          <p15:clr>
            <a:srgbClr val="A4A3A4"/>
          </p15:clr>
        </p15:guide>
        <p15:guide id="5" orient="horz" pos="425" userDrawn="1">
          <p15:clr>
            <a:srgbClr val="A4A3A4"/>
          </p15:clr>
        </p15:guide>
        <p15:guide id="6" orient="horz" pos="3441" userDrawn="1">
          <p15:clr>
            <a:srgbClr val="A4A3A4"/>
          </p15:clr>
        </p15:guide>
        <p15:guide id="7" pos="3099" userDrawn="1">
          <p15:clr>
            <a:srgbClr val="A4A3A4"/>
          </p15:clr>
        </p15:guide>
        <p15:guide id="8" pos="6074" userDrawn="1">
          <p15:clr>
            <a:srgbClr val="A4A3A4"/>
          </p15:clr>
        </p15:guide>
        <p15:guide id="9" pos="3250" userDrawn="1">
          <p15:clr>
            <a:srgbClr val="A4A3A4"/>
          </p15:clr>
        </p15:guide>
        <p15:guide id="10" pos="982" userDrawn="1">
          <p15:clr>
            <a:srgbClr val="A4A3A4"/>
          </p15:clr>
        </p15:guide>
        <p15:guide id="11" pos="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8D3D6"/>
    <a:srgbClr val="7D001E"/>
    <a:srgbClr val="640014"/>
    <a:srgbClr val="960000"/>
    <a:srgbClr val="696969"/>
    <a:srgbClr val="DC0000"/>
    <a:srgbClr val="960028"/>
    <a:srgbClr val="BD003B"/>
    <a:srgbClr val="DB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6" y="64"/>
      </p:cViewPr>
      <p:guideLst>
        <p:guide orient="horz" pos="984"/>
        <p:guide orient="horz" pos="3388"/>
        <p:guide orient="horz"/>
        <p:guide orient="horz" pos="654"/>
        <p:guide orient="horz" pos="425"/>
        <p:guide orient="horz" pos="3441"/>
        <p:guide pos="3099"/>
        <p:guide pos="6074"/>
        <p:guide pos="3250"/>
        <p:guide pos="982"/>
        <p:guide pos="2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3"/>
        <p:guide pos="207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CA3AF"/>
              </a:solidFill>
              <a:ln w="9525" cap="flat" cmpd="sng" algn="ctr">
                <a:solidFill>
                  <a:srgbClr val="9CA3AF"/>
                </a:solidFill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process</c:v>
                </c:pt>
                <c:pt idx="1">
                  <c:v>Automated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F8FAF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F2937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"/>
          <c:min val="0"/>
        </c:scaling>
        <c:delete val="0"/>
        <c:axPos val="t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 b="0"/>
                  <a:t>Minutes</a:t>
                </a:r>
                <a:endParaRPr sz="1000" b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5E7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280"/>
                </a:solidFill>
                <a:latin typeface="Apto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b60b151-6250-4ae6-a853-8f49a561d5b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EC345535-AF3F-4D13-83AC-666A27668071}" type="datetime1">
              <a:rPr lang="de-DE" smtClean="0"/>
            </a:fld>
            <a:endParaRPr lang="de-DE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AC0386C-7505-488B-926D-937D76EB9CDE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64B208A8-9644-44A7-92E1-5EE79CE6CDB0}" type="datetime1">
              <a:rPr lang="de-DE" smtClean="0"/>
            </a:fld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863" y="739775"/>
            <a:ext cx="6562725" cy="3692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5" y="4678958"/>
            <a:ext cx="5318760" cy="443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/>
          <a:p>
            <a:pPr lvl="0"/>
            <a:r>
              <a:rPr lang="de-DE" noProof="0"/>
              <a:t>Textmasterformate durch Klicken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BC72A1BE-0E9C-48B4-B648-3C26A6064B17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456000" y="676276"/>
            <a:ext cx="8704000" cy="5042693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559612" y="3397727"/>
            <a:ext cx="8083570" cy="359874"/>
          </a:xfrm>
          <a:prstGeom prst="rect">
            <a:avLst/>
          </a:prstGeom>
          <a:ln w="0">
            <a:noFill/>
            <a:prstDash val="solid"/>
          </a:ln>
          <a:effectLst/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Occasion D</a:t>
            </a:r>
            <a:r>
              <a:rPr lang="en-US" altLang="zh-CN"/>
              <a:t>ate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9609" y="3757085"/>
            <a:ext cx="8080898" cy="9606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59278" y="5318125"/>
            <a:ext cx="8081229" cy="3596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Autor</a:t>
            </a:r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76276"/>
            <a:ext cx="1456000" cy="5042693"/>
            <a:chOff x="0" y="898525"/>
            <a:chExt cx="1310400" cy="5964238"/>
          </a:xfrm>
        </p:grpSpPr>
        <p:sp>
          <p:nvSpPr>
            <p:cNvPr id="9" name="Rechteck 8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159376" y="1562100"/>
            <a:ext cx="4483806" cy="3816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4"/>
            <a:endParaRPr lang="de-DE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9" y="1562100"/>
            <a:ext cx="4494803" cy="38163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53975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7855" y="5462589"/>
            <a:ext cx="8185329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10" y="674687"/>
            <a:ext cx="9203972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39209" y="1039812"/>
            <a:ext cx="9203971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3816350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ext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2563" y="5462589"/>
            <a:ext cx="8190621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7"/>
            <a:ext cx="9193391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39208" y="3555324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456000" y="676276"/>
            <a:ext cx="8704000" cy="5038727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676273"/>
            <a:ext cx="1456000" cy="5038728"/>
            <a:chOff x="0" y="898525"/>
            <a:chExt cx="1310400" cy="5964238"/>
          </a:xfrm>
        </p:grpSpPr>
        <p:sp>
          <p:nvSpPr>
            <p:cNvPr id="12" name="Rechteck 11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559803" y="4957735"/>
            <a:ext cx="6480528" cy="359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Edit Text Master Format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9"/>
            <a:ext cx="8187182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456001" y="5462583"/>
            <a:ext cx="8704000" cy="252417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bg1">
                  <a:lumMod val="85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8"/>
            <a:ext cx="8187181" cy="2524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20" name="Gruppieren 19"/>
          <p:cNvGrpSpPr/>
          <p:nvPr/>
        </p:nvGrpSpPr>
        <p:grpSpPr>
          <a:xfrm>
            <a:off x="0" y="5462241"/>
            <a:ext cx="1456000" cy="252416"/>
            <a:chOff x="0" y="898525"/>
            <a:chExt cx="1310400" cy="5964238"/>
          </a:xfrm>
        </p:grpSpPr>
        <p:sp>
          <p:nvSpPr>
            <p:cNvPr id="21" name="Rechteck 20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412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+mj-lt"/>
          <a:ea typeface="ヒラギノ角ゴ Pro W3" charset="0"/>
          <a:cs typeface="ヒラギノ角ゴ Pro W3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9pPr>
    </p:titleStyle>
    <p:bodyStyle>
      <a:lvl1pPr marL="381000" indent="-381000" algn="l" rtl="0" eaLnBrk="1" fontAlgn="base" hangingPunct="1">
        <a:spcBef>
          <a:spcPct val="20000"/>
        </a:spcBef>
        <a:spcAft>
          <a:spcPct val="0"/>
        </a:spcAft>
        <a:buChar char="•"/>
        <a:defRPr sz="311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825500" indent="-317500" algn="l" rtl="0" eaLnBrk="1" fontAlgn="base" hangingPunct="1">
        <a:spcBef>
          <a:spcPct val="20000"/>
        </a:spcBef>
        <a:spcAft>
          <a:spcPct val="0"/>
        </a:spcAft>
        <a:buChar char="–"/>
        <a:defRPr sz="2665">
          <a:solidFill>
            <a:schemeClr val="tx1"/>
          </a:solidFill>
          <a:latin typeface="+mn-lt"/>
          <a:ea typeface="ヒラギノ角ゴ Pro W3" charset="0"/>
        </a:defRPr>
      </a:lvl2pPr>
      <a:lvl3pPr marL="1270000" indent="-254000" algn="l" rtl="0" eaLnBrk="1" fontAlgn="base" hangingPunct="1">
        <a:spcBef>
          <a:spcPct val="20000"/>
        </a:spcBef>
        <a:spcAft>
          <a:spcPct val="0"/>
        </a:spcAft>
        <a:buChar char="•"/>
        <a:defRPr sz="2220">
          <a:solidFill>
            <a:schemeClr val="tx1"/>
          </a:solidFill>
          <a:latin typeface="+mn-lt"/>
          <a:ea typeface="ヒラギノ角ゴ Pro W3" charset="0"/>
        </a:defRPr>
      </a:lvl3pPr>
      <a:lvl4pPr marL="1778000" indent="-2540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charset="0"/>
        </a:defRPr>
      </a:lvl4pPr>
      <a:lvl5pPr marL="2286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charset="0"/>
        </a:defRPr>
      </a:lvl5pPr>
      <a:lvl6pPr marL="2794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302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810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18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altLang="en-US" sz="2800">
                <a:sym typeface="+mn-ea"/>
              </a:rPr>
              <a:t>Overstock Matching &amp; Sales Order Analysis Automation Using Power Automate</a:t>
            </a:r>
            <a:endParaRPr lang="de-DE" sz="2800" dirty="0" err="1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de-DE" dirty="0">
                <a:ea typeface="ヒラギノ角ゴ Pro W3"/>
              </a:rPr>
              <a:t>Jack</a:t>
            </a:r>
            <a:endParaRPr lang="de-DE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Problem</a:t>
            </a:r>
            <a:endParaRPr lang="en-US" altLang="en-US" sz="2650" b="1">
              <a:solidFill>
                <a:schemeClr val="tx1"/>
              </a:solidFill>
              <a:sym typeface="+mn-ea"/>
            </a:endParaRPr>
          </a:p>
          <a:p>
            <a:endParaRPr lang="en-US" altLang="en-US" sz="26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505" y="1549400"/>
            <a:ext cx="9712960" cy="17214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Sales orders and overstock inventory stored in separate Excel files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Manual comparison required line-by-line checking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Time-consuming to identify matching overstock items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Inconsistent product codes and formatting increased matching errors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No efficient way to generate a consolidated matching report</a:t>
            </a:r>
            <a:endParaRPr lang="en-US" sz="2000" dirty="0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Solution Overview</a:t>
            </a:r>
            <a:endParaRPr lang="en-US" altLang="en-US" sz="2650" b="1" dirty="0">
              <a:solidFill>
                <a:schemeClr val="tx1"/>
              </a:solidFill>
              <a:cs typeface="Arial" panose="020B0604020202020204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515" y="1549400"/>
            <a:ext cx="9722485" cy="3752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Built </a:t>
            </a:r>
            <a:r>
              <a:rPr lang="en-US" altLang="en-US" b="1">
                <a:sym typeface="+mn-ea"/>
              </a:rPr>
              <a:t>automated overstock matching workflow</a:t>
            </a:r>
            <a:endParaRPr lang="en-US" altLang="en-US" b="1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Retrieves: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Daily sales order file</a:t>
            </a:r>
            <a:endParaRPr lang="en-US" altLang="en-US" sz="14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Overstock inventory list</a:t>
            </a:r>
            <a:endParaRPr lang="en-US" altLang="en-US" sz="14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Processes each sales order record individually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Cleans and standardises product codes and key fields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Compares sales orders against overstock inventory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Identifies matching products automatically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Outputs results into a new structured Excel report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Sends final report directly to sales team via email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Implemented </a:t>
            </a:r>
            <a:r>
              <a:rPr lang="en-US" altLang="en-US" b="1">
                <a:sym typeface="+mn-ea"/>
              </a:rPr>
              <a:t>failure &amp; timeout alerts</a:t>
            </a:r>
            <a:r>
              <a:rPr lang="en-US" altLang="en-US">
                <a:sym typeface="+mn-ea"/>
              </a:rPr>
              <a:t> to maintenance team</a:t>
            </a:r>
            <a:endParaRPr lang="en-US" altLang="en-US"/>
          </a:p>
          <a:p>
            <a:pPr algn="ctr"/>
            <a:endParaRPr lang="en-US" sz="1600" b="0" i="0" dirty="0" err="1">
              <a:latin typeface="+mn-lt"/>
              <a:cs typeface="Helveti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Impact</a:t>
            </a:r>
            <a:endParaRPr lang="en-US" altLang="en-US" sz="2650" b="1" dirty="0">
              <a:solidFill>
                <a:schemeClr val="tx1"/>
              </a:solidFill>
              <a:ea typeface="ヒラギノ角ゴ Pro W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32693" y="1340371"/>
            <a:ext cx="1440255" cy="3772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rPr sz="825"/>
              <a:t>≈ </a:t>
            </a:r>
            <a:r>
              <a:rPr lang="en-US" sz="825"/>
              <a:t>8</a:t>
            </a:r>
            <a:r>
              <a:rPr sz="825"/>
              <a:t>5–9</a:t>
            </a:r>
            <a:r>
              <a:rPr lang="en-US" sz="825"/>
              <a:t>5</a:t>
            </a:r>
            <a:r>
              <a:rPr sz="825"/>
              <a:t>% less effort</a:t>
            </a:r>
            <a:endParaRPr sz="825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44529" y="1340410"/>
          <a:ext cx="5280935" cy="322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38229" y="2057329"/>
            <a:ext cx="2434717" cy="2983385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0" name="TextBox 6"/>
          <p:cNvSpPr txBox="1"/>
          <p:nvPr/>
        </p:nvSpPr>
        <p:spPr>
          <a:xfrm>
            <a:off x="6343980" y="2263079"/>
            <a:ext cx="887730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7280"/>
                </a:solidFill>
                <a:latin typeface="Aptos"/>
              </a:defRPr>
            </a:pPr>
            <a:r>
              <a:rPr sz="1050"/>
              <a:t>Time saved</a:t>
            </a:r>
            <a:endParaRPr sz="1050"/>
          </a:p>
        </p:txBody>
      </p:sp>
      <p:sp>
        <p:nvSpPr>
          <p:cNvPr id="11" name="TextBox 7"/>
          <p:cNvSpPr txBox="1"/>
          <p:nvPr/>
        </p:nvSpPr>
        <p:spPr>
          <a:xfrm>
            <a:off x="6323405" y="2537414"/>
            <a:ext cx="1504950" cy="575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rPr sz="2100"/>
              <a:t>~</a:t>
            </a:r>
            <a:r>
              <a:rPr lang="en-US" sz="2100"/>
              <a:t>10</a:t>
            </a:r>
            <a:r>
              <a:rPr sz="2100"/>
              <a:t>0 mins</a:t>
            </a:r>
            <a:endParaRPr sz="2100"/>
          </a:p>
          <a:p>
            <a:pPr>
              <a:defRPr sz="1400">
                <a:solidFill>
                  <a:srgbClr val="6B7280"/>
                </a:solidFill>
                <a:latin typeface="Aptos"/>
              </a:defRPr>
            </a:pPr>
            <a:r>
              <a:rPr sz="1050"/>
              <a:t>per </a:t>
            </a:r>
            <a:r>
              <a:rPr lang="en-US" sz="1050"/>
              <a:t>process</a:t>
            </a:r>
            <a:endParaRPr lang="en-US" sz="1050"/>
          </a:p>
        </p:txBody>
      </p:sp>
      <p:sp>
        <p:nvSpPr>
          <p:cNvPr id="12" name="Rectangle 8"/>
          <p:cNvSpPr/>
          <p:nvPr/>
        </p:nvSpPr>
        <p:spPr>
          <a:xfrm>
            <a:off x="6309689" y="3154666"/>
            <a:ext cx="2091799" cy="685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3" name="TextBox 9"/>
          <p:cNvSpPr txBox="1"/>
          <p:nvPr/>
        </p:nvSpPr>
        <p:spPr>
          <a:xfrm>
            <a:off x="6343980" y="3291833"/>
            <a:ext cx="2023215" cy="10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Eliminates manual data cleaning and comparison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Improves accuracy of product matching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Enables faster identification of overstock opportunities</a:t>
            </a:r>
            <a:endParaRPr lang="en-US" altLang="en-US" sz="825"/>
          </a:p>
        </p:txBody>
      </p:sp>
      <p:sp>
        <p:nvSpPr>
          <p:cNvPr id="14" name="TextBox 10"/>
          <p:cNvSpPr txBox="1"/>
          <p:nvPr/>
        </p:nvSpPr>
        <p:spPr>
          <a:xfrm>
            <a:off x="548669" y="5383632"/>
            <a:ext cx="2604770" cy="195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B7280"/>
                </a:solidFill>
                <a:latin typeface="Aptos"/>
              </a:defRPr>
            </a:pPr>
            <a:r>
              <a:rPr sz="675"/>
              <a:t>Estimates based on typical </a:t>
            </a:r>
            <a:r>
              <a:rPr lang="en-US" altLang="en-US" sz="675">
                <a:sym typeface="+mn-ea"/>
              </a:rPr>
              <a:t>overstock matching</a:t>
            </a:r>
            <a:r>
              <a:rPr lang="en-US" altLang="en-US" sz="675"/>
              <a:t> processing time.</a:t>
            </a:r>
            <a:endParaRPr lang="en-US" altLang="en-US" sz="675"/>
          </a:p>
        </p:txBody>
      </p:sp>
      <p:sp>
        <p:nvSpPr>
          <p:cNvPr id="15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ym typeface="+mn-ea"/>
              </a:rPr>
              <a:t>Estimated effort for overstock matching process</a:t>
            </a:r>
            <a:endParaRPr lang="en-US" altLang="en-US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Flow Description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661" y="1421803"/>
            <a:ext cx="6828692" cy="23247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b="1">
                <a:sym typeface="+mn-ea"/>
              </a:rPr>
              <a:t>Trigger: </a:t>
            </a:r>
            <a:r>
              <a:rPr lang="en-US" altLang="en-US">
                <a:sym typeface="+mn-ea"/>
              </a:rPr>
              <a:t>Daily or manual file upload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Retrieve sales order &amp; </a:t>
            </a:r>
            <a:r>
              <a:rPr lang="en-US" altLang="en-US">
                <a:sym typeface="+mn-ea"/>
              </a:rPr>
              <a:t>overstock inventory </a:t>
            </a:r>
            <a:r>
              <a:rPr lang="en-US" altLang="en-US">
                <a:sym typeface="+mn-ea"/>
              </a:rPr>
              <a:t>Excel file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Clean &amp; standardise product codes, key fields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Compare records against overstock inventory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Filter &amp; identify matching products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Generate structured output in new Excel file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Send report to sales team via email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ym typeface="+mn-ea"/>
              </a:rPr>
              <a:t>Overstock Matching &amp; Sales Order Analysis Automation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7" name="Picture 1" descr="Overstock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2490" y="337185"/>
            <a:ext cx="2573655" cy="5125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äsentationsvorlage 2014 (16-10)">
  <a:themeElements>
    <a:clrScheme name="EH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C2332"/>
      </a:accent1>
      <a:accent2>
        <a:srgbClr val="D20A28"/>
      </a:accent2>
      <a:accent3>
        <a:srgbClr val="F07249"/>
      </a:accent3>
      <a:accent4>
        <a:srgbClr val="969696"/>
      </a:accent4>
      <a:accent5>
        <a:srgbClr val="5A5A5A"/>
      </a:accent5>
      <a:accent6>
        <a:srgbClr val="282828"/>
      </a:accent6>
      <a:hlink>
        <a:srgbClr val="FBE0BD"/>
      </a:hlink>
      <a:folHlink>
        <a:srgbClr val="BFBFBF"/>
      </a:folHlink>
    </a:clrScheme>
    <a:fontScheme name="Haefele_Praesentationsvorlage_10_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600" b="0" i="0" dirty="0" err="1" smtClean="0">
            <a:latin typeface="+mn-lt"/>
            <a:cs typeface="Helvetica Light"/>
          </a:defRPr>
        </a:defPPr>
      </a:lstStyle>
    </a:txDef>
  </a:objectDefaults>
  <a:extraClrSchemeLst>
    <a:extraClrScheme>
      <a:clrScheme name="Haefele_Praesentationsvorlage_10_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2014 (16-10)</Template>
  <TotalTime>0</TotalTime>
  <Words>1529</Words>
  <Application>WPS Presentation</Application>
  <PresentationFormat>Custom</PresentationFormat>
  <Paragraphs>78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ヒラギノ角ゴ Pro W3</vt:lpstr>
      <vt:lpstr>Yu Gothic</vt:lpstr>
      <vt:lpstr>Helvetica Light</vt:lpstr>
      <vt:lpstr>ヒラギノ角ゴ Pro W3</vt:lpstr>
      <vt:lpstr>Segoe Print</vt:lpstr>
      <vt:lpstr>Symbol</vt:lpstr>
      <vt:lpstr>ヒラギノ角ゴ Pro W3</vt:lpstr>
      <vt:lpstr>Arial</vt:lpstr>
      <vt:lpstr>Aptos</vt:lpstr>
      <vt:lpstr>微软雅黑</vt:lpstr>
      <vt:lpstr>Arial Unicode MS</vt:lpstr>
      <vt:lpstr>Segoe UI</vt:lpstr>
      <vt:lpstr>Präsentationsvorlage 2014 (16-10)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Häfele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Bernd Schatz</dc:creator>
  <cp:lastModifiedBy>jack cheng</cp:lastModifiedBy>
  <cp:revision>452</cp:revision>
  <cp:lastPrinted>2013-02-14T10:02:00Z</cp:lastPrinted>
  <dcterms:created xsi:type="dcterms:W3CDTF">2015-04-09T13:40:00Z</dcterms:created>
  <dcterms:modified xsi:type="dcterms:W3CDTF">2026-04-07T21:53:59Z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F62EEBB014E545709C49211856FF43BA_12</vt:lpwstr>
  </property>
  <property fmtid="{D5CDD505-2E9C-101B-9397-08002B2CF9AE}" pid="4" name="KSOProductBuildVer">
    <vt:lpwstr>1033-12.2.0.23196</vt:lpwstr>
  </property>
</Properties>
</file>