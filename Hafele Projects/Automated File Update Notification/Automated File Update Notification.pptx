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68" r:id="rId4"/>
    <p:sldId id="269" r:id="rId5"/>
    <p:sldId id="278" r:id="rId6"/>
    <p:sldId id="277" r:id="rId7"/>
    <p:sldId id="267" r:id="rId8"/>
  </p:sldIdLst>
  <p:sldSz cx="10160000" cy="5715000"/>
  <p:notesSz cx="6648450" cy="985012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pitchFamily="12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3" userDrawn="1">
          <p15:clr>
            <a:srgbClr val="A4A3A4"/>
          </p15:clr>
        </p15:guide>
        <p15:guide id="2" orient="horz" pos="3388" userDrawn="1">
          <p15:clr>
            <a:srgbClr val="A4A3A4"/>
          </p15:clr>
        </p15:guide>
        <p15:guide id="3" orient="horz" pos="0" userDrawn="1">
          <p15:clr>
            <a:srgbClr val="A4A3A4"/>
          </p15:clr>
        </p15:guide>
        <p15:guide id="4" orient="horz" pos="654" userDrawn="1">
          <p15:clr>
            <a:srgbClr val="A4A3A4"/>
          </p15:clr>
        </p15:guide>
        <p15:guide id="5" orient="horz" pos="425" userDrawn="1">
          <p15:clr>
            <a:srgbClr val="A4A3A4"/>
          </p15:clr>
        </p15:guide>
        <p15:guide id="6" orient="horz" pos="3441" userDrawn="1">
          <p15:clr>
            <a:srgbClr val="A4A3A4"/>
          </p15:clr>
        </p15:guide>
        <p15:guide id="7" pos="3099" userDrawn="1">
          <p15:clr>
            <a:srgbClr val="A4A3A4"/>
          </p15:clr>
        </p15:guide>
        <p15:guide id="8" pos="6073" userDrawn="1">
          <p15:clr>
            <a:srgbClr val="A4A3A4"/>
          </p15:clr>
        </p15:guide>
        <p15:guide id="9" pos="3250" userDrawn="1">
          <p15:clr>
            <a:srgbClr val="A4A3A4"/>
          </p15:clr>
        </p15:guide>
        <p15:guide id="10" pos="982" userDrawn="1">
          <p15:clr>
            <a:srgbClr val="A4A3A4"/>
          </p15:clr>
        </p15:guide>
        <p15:guide id="11" pos="2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8D3D6"/>
    <a:srgbClr val="7D001E"/>
    <a:srgbClr val="640014"/>
    <a:srgbClr val="960000"/>
    <a:srgbClr val="696969"/>
    <a:srgbClr val="DC0000"/>
    <a:srgbClr val="960028"/>
    <a:srgbClr val="BD003B"/>
    <a:srgbClr val="DBE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956" y="64"/>
      </p:cViewPr>
      <p:guideLst>
        <p:guide orient="horz" pos="983"/>
        <p:guide orient="horz" pos="3388"/>
        <p:guide orient="horz"/>
        <p:guide orient="horz" pos="654"/>
        <p:guide orient="horz" pos="425"/>
        <p:guide orient="horz" pos="3441"/>
        <p:guide pos="3099"/>
        <p:guide pos="6073"/>
        <p:guide pos="3250"/>
        <p:guide pos="982"/>
        <p:guide pos="27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3"/>
        <p:guide pos="20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9CA3AF"/>
              </a:solidFill>
              <a:ln w="9525" cap="flat" cmpd="sng" algn="ctr">
                <a:solidFill>
                  <a:srgbClr val="9CA3AF"/>
                </a:solidFill>
                <a:prstDash val="solid"/>
                <a:round/>
              </a:ln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ln w="9525" cap="flat" cmpd="sng" algn="ctr">
                <a:solidFill>
                  <a:srgbClr val="22C55E"/>
                </a:solidFill>
                <a:prstDash val="solid"/>
                <a:round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Apto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Manual process</c:v>
                </c:pt>
                <c:pt idx="1">
                  <c:v>Automated process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F8FAF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F2937"/>
                </a:solidFill>
                <a:latin typeface="Apto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"/>
          <c:min val="0"/>
        </c:scaling>
        <c:delete val="0"/>
        <c:axPos val="t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000" b="0"/>
                  <a:t>Minutes</a:t>
                </a:r>
                <a:endParaRPr sz="1000" b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E5E7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B7280"/>
                </a:solidFill>
                <a:latin typeface="Aptos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b60b151-6250-4ae6-a853-8f49a561d5b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EC345535-AF3F-4D13-83AC-666A27668071}" type="datetime1">
              <a:rPr lang="de-DE" smtClean="0"/>
            </a:fld>
            <a:endParaRPr lang="de-DE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1AC0386C-7505-488B-926D-937D76EB9CDE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5917" y="0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64B208A8-9644-44A7-92E1-5EE79CE6CDB0}" type="datetime1">
              <a:rPr lang="de-DE" smtClean="0"/>
            </a:fld>
            <a:endParaRPr 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863" y="739775"/>
            <a:ext cx="6562725" cy="3692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4845" y="4678958"/>
            <a:ext cx="5318760" cy="443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t" anchorCtr="0" compatLnSpc="1"/>
          <a:lstStyle/>
          <a:p>
            <a:pPr lvl="0"/>
            <a:r>
              <a:rPr lang="de-DE" noProof="0"/>
              <a:t>Textmasterformate durch Klicken bearbeiten</a:t>
            </a:r>
            <a:endParaRPr lang="de-DE" noProof="0"/>
          </a:p>
          <a:p>
            <a:pPr lvl="1"/>
            <a:r>
              <a:rPr lang="de-DE" noProof="0"/>
              <a:t>Zweite Ebene</a:t>
            </a:r>
            <a:endParaRPr lang="de-DE" noProof="0"/>
          </a:p>
          <a:p>
            <a:pPr lvl="2"/>
            <a:r>
              <a:rPr lang="de-DE" noProof="0"/>
              <a:t>Dritte Ebene</a:t>
            </a:r>
            <a:endParaRPr lang="de-DE" noProof="0"/>
          </a:p>
          <a:p>
            <a:pPr lvl="3"/>
            <a:r>
              <a:rPr lang="de-DE" noProof="0"/>
              <a:t>Vierte Ebene</a:t>
            </a:r>
            <a:endParaRPr lang="de-DE" noProof="0"/>
          </a:p>
          <a:p>
            <a:pPr lvl="4"/>
            <a:r>
              <a:rPr lang="de-DE" noProof="0"/>
              <a:t>Fünfte Ebene</a:t>
            </a:r>
            <a:endParaRPr lang="de-DE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5917" y="9356207"/>
            <a:ext cx="2880995" cy="49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8" tIns="45719" rIns="91438" bIns="45719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BC72A1BE-0E9C-48B4-B648-3C26A6064B17}" type="slidenum">
              <a:rPr lang="de-DE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456000" y="676276"/>
            <a:ext cx="8704000" cy="5042693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559612" y="3397727"/>
            <a:ext cx="8083570" cy="359874"/>
          </a:xfrm>
          <a:prstGeom prst="rect">
            <a:avLst/>
          </a:prstGeom>
          <a:ln w="0">
            <a:noFill/>
            <a:prstDash val="solid"/>
          </a:ln>
          <a:effectLst/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Occasion D</a:t>
            </a:r>
            <a:r>
              <a:rPr lang="en-US" altLang="zh-CN"/>
              <a:t>ate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1559609" y="3757085"/>
            <a:ext cx="8080898" cy="96062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40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Title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1559278" y="5318125"/>
            <a:ext cx="8081229" cy="3596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Autor</a:t>
            </a:r>
            <a:endParaRPr lang="de-DE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0" y="676276"/>
            <a:ext cx="1456000" cy="5042693"/>
            <a:chOff x="0" y="898525"/>
            <a:chExt cx="1310400" cy="5964238"/>
          </a:xfrm>
        </p:grpSpPr>
        <p:sp>
          <p:nvSpPr>
            <p:cNvPr id="9" name="Rechteck 8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und 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60501" y="5462589"/>
            <a:ext cx="8182683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9"/>
            <a:ext cx="9193391" cy="365125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 hasCustomPrompt="1"/>
          </p:nvPr>
        </p:nvSpPr>
        <p:spPr>
          <a:xfrm>
            <a:off x="5159376" y="1562100"/>
            <a:ext cx="4483806" cy="3816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4"/>
            <a:endParaRPr lang="de-DE"/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9" y="1562100"/>
            <a:ext cx="4494803" cy="38163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539750" indent="-254000" algn="l" rtl="0" eaLnBrk="1" fontAlgn="base" hangingPunct="1">
              <a:spcBef>
                <a:spcPct val="2000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lang="en-US" sz="1780" dirty="0" smtClean="0">
                <a:solidFill>
                  <a:schemeClr val="tx1"/>
                </a:solidFill>
                <a:latin typeface="+mn-lt"/>
                <a:ea typeface="ヒラギノ角ゴ Pro W3" charset="0"/>
              </a:defRPr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7855" y="5462589"/>
            <a:ext cx="8185329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10" y="674687"/>
            <a:ext cx="9203972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439209" y="1039812"/>
            <a:ext cx="9203971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7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3816350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eite mit Text 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2563" y="5462589"/>
            <a:ext cx="8190621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39209" y="674687"/>
            <a:ext cx="9193391" cy="365126"/>
          </a:xfrm>
          <a:prstGeom prst="rect">
            <a:avLst/>
          </a:prstGeom>
        </p:spPr>
        <p:txBody>
          <a:bodyPr lIns="0" tIns="0"/>
          <a:lstStyle>
            <a:lvl1pPr marL="0" indent="0">
              <a:spcBef>
                <a:spcPts val="0"/>
              </a:spcBef>
              <a:buNone/>
              <a:defRPr sz="2665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HEADLINE 1</a:t>
            </a:r>
            <a:endParaRPr lang="de-DE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39209" y="1039812"/>
            <a:ext cx="9201324" cy="522288"/>
          </a:xfrm>
          <a:prstGeom prst="rect">
            <a:avLst/>
          </a:prstGeom>
        </p:spPr>
        <p:txBody>
          <a:bodyPr lIns="0" tIns="0" anchor="t" anchorCtr="0"/>
          <a:lstStyle>
            <a:lvl1pPr marL="0" indent="0">
              <a:spcBef>
                <a:spcPts val="0"/>
              </a:spcBef>
              <a:buNone/>
              <a:defRPr sz="1780" cap="all" baseline="0">
                <a:solidFill>
                  <a:srgbClr val="7D001E"/>
                </a:solidFill>
              </a:defRPr>
            </a:lvl1pPr>
          </a:lstStyle>
          <a:p>
            <a:pPr lvl="0"/>
            <a:r>
              <a:rPr lang="de-DE"/>
              <a:t>HEADLINE 2</a:t>
            </a:r>
            <a:endParaRPr lang="de-DE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39208" y="1562100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39208" y="3555324"/>
            <a:ext cx="9203973" cy="1799456"/>
          </a:xfrm>
          <a:prstGeom prst="rect">
            <a:avLst/>
          </a:prstGeom>
        </p:spPr>
        <p:txBody>
          <a:bodyPr/>
          <a:lstStyle>
            <a:lvl1pPr marL="0" indent="0">
              <a:buFont typeface="Symbol" panose="05050102010706020507" pitchFamily="18" charset="2"/>
              <a:buNone/>
              <a:defRPr sz="1780"/>
            </a:lvl1pPr>
            <a:lvl2pPr marL="825500" indent="-317500">
              <a:buFont typeface="Symbol" panose="05050102010706020507" pitchFamily="18" charset="2"/>
              <a:buChar char="-"/>
              <a:defRPr sz="1780"/>
            </a:lvl2pPr>
            <a:lvl3pPr marL="1270000" indent="-254000">
              <a:buFont typeface="Symbol" panose="05050102010706020507" pitchFamily="18" charset="2"/>
              <a:buChar char="-"/>
              <a:defRPr sz="1780"/>
            </a:lvl3pPr>
            <a:lvl4pPr marL="1778000" indent="-254000">
              <a:buFont typeface="Symbol" panose="05050102010706020507" pitchFamily="18" charset="2"/>
              <a:buChar char="-"/>
              <a:defRPr sz="1780"/>
            </a:lvl4pPr>
            <a:lvl5pPr marL="2286000" indent="-254000">
              <a:buFont typeface="Symbol" panose="05050102010706020507" pitchFamily="18" charset="2"/>
              <a:buChar char="-"/>
              <a:defRPr sz="1780"/>
            </a:lvl5pPr>
          </a:lstStyle>
          <a:p>
            <a:pPr marL="0" lv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/>
              <a:t>Edit Text Master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456000" y="676276"/>
            <a:ext cx="8704000" cy="5038727"/>
          </a:xfrm>
          <a:prstGeom prst="rect">
            <a:avLst/>
          </a:prstGeom>
          <a:gradFill>
            <a:gsLst>
              <a:gs pos="20000">
                <a:srgbClr val="7D001E"/>
              </a:gs>
              <a:gs pos="100000">
                <a:srgbClr val="DC0000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/>
          <p:cNvGrpSpPr/>
          <p:nvPr userDrawn="1"/>
        </p:nvGrpSpPr>
        <p:grpSpPr>
          <a:xfrm>
            <a:off x="0" y="676273"/>
            <a:ext cx="1456000" cy="5038728"/>
            <a:chOff x="0" y="898525"/>
            <a:chExt cx="1310400" cy="5964238"/>
          </a:xfrm>
        </p:grpSpPr>
        <p:sp>
          <p:nvSpPr>
            <p:cNvPr id="12" name="Rechteck 11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559803" y="4957735"/>
            <a:ext cx="6480528" cy="359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Edit Text Master Format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850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9"/>
            <a:ext cx="8187182" cy="2508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1456001" y="5462583"/>
            <a:ext cx="8704000" cy="252417"/>
          </a:xfrm>
          <a:prstGeom prst="rect">
            <a:avLst/>
          </a:prstGeom>
          <a:gradFill flip="none" rotWithShape="1">
            <a:gsLst>
              <a:gs pos="0">
                <a:srgbClr val="696969"/>
              </a:gs>
              <a:gs pos="100000">
                <a:schemeClr val="bg1">
                  <a:lumMod val="85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456000" y="5462588"/>
            <a:ext cx="8187181" cy="2524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78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grpSp>
        <p:nvGrpSpPr>
          <p:cNvPr id="20" name="Gruppieren 19"/>
          <p:cNvGrpSpPr/>
          <p:nvPr/>
        </p:nvGrpSpPr>
        <p:grpSpPr>
          <a:xfrm>
            <a:off x="0" y="5462241"/>
            <a:ext cx="1456000" cy="252416"/>
            <a:chOff x="0" y="898525"/>
            <a:chExt cx="1310400" cy="5964238"/>
          </a:xfrm>
        </p:grpSpPr>
        <p:sp>
          <p:nvSpPr>
            <p:cNvPr id="21" name="Rechteck 20"/>
            <p:cNvSpPr/>
            <p:nvPr/>
          </p:nvSpPr>
          <p:spPr>
            <a:xfrm>
              <a:off x="0" y="898525"/>
              <a:ext cx="864000" cy="5964238"/>
            </a:xfrm>
            <a:prstGeom prst="rect">
              <a:avLst/>
            </a:prstGeom>
            <a:gradFill>
              <a:gsLst>
                <a:gs pos="20000">
                  <a:srgbClr val="7D001E"/>
                </a:gs>
                <a:gs pos="100000">
                  <a:srgbClr val="DC0000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864000" y="898525"/>
              <a:ext cx="158400" cy="5964238"/>
            </a:xfrm>
            <a:prstGeom prst="rect">
              <a:avLst/>
            </a:prstGeom>
            <a:gradFill>
              <a:gsLst>
                <a:gs pos="0">
                  <a:srgbClr val="640014"/>
                </a:gs>
                <a:gs pos="100000">
                  <a:srgbClr val="640014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1022400" y="898525"/>
              <a:ext cx="288000" cy="5964238"/>
            </a:xfrm>
            <a:prstGeom prst="rect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3" name="Grafik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181" y="210670"/>
            <a:ext cx="1800000" cy="256207"/>
          </a:xfrm>
          <a:prstGeom prst="rect">
            <a:avLst/>
          </a:prstGeom>
        </p:spPr>
      </p:pic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0583" y="5462588"/>
            <a:ext cx="433918" cy="252412"/>
          </a:xfrm>
          <a:prstGeom prst="rect">
            <a:avLst/>
          </a:prstGeom>
        </p:spPr>
        <p:txBody>
          <a:bodyPr anchor="ctr"/>
          <a:lstStyle>
            <a:lvl1pPr algn="ctr">
              <a:defRPr sz="78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+mj-lt"/>
          <a:ea typeface="ヒラギノ角ゴ Pro W3" charset="0"/>
          <a:cs typeface="ヒラギノ角ゴ Pro W3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  <a:ea typeface="ヒラギノ角ゴ Pro W3" charset="0"/>
          <a:cs typeface="ヒラギノ角ゴ Pro W3" charset="0"/>
        </a:defRPr>
      </a:lvl5pPr>
      <a:lvl6pPr marL="508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6pPr>
      <a:lvl7pPr marL="1016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7pPr>
      <a:lvl8pPr marL="1524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8pPr>
      <a:lvl9pPr marL="2032000" algn="l" rtl="0" eaLnBrk="1" fontAlgn="base" hangingPunct="1">
        <a:spcBef>
          <a:spcPct val="0"/>
        </a:spcBef>
        <a:spcAft>
          <a:spcPct val="0"/>
        </a:spcAft>
        <a:defRPr sz="2665" b="1">
          <a:solidFill>
            <a:srgbClr val="6C9CBC"/>
          </a:solidFill>
          <a:latin typeface="Arial" panose="020B0604020202020204" pitchFamily="34" charset="0"/>
        </a:defRPr>
      </a:lvl9pPr>
    </p:titleStyle>
    <p:bodyStyle>
      <a:lvl1pPr marL="381000" indent="-381000" algn="l" rtl="0" eaLnBrk="1" fontAlgn="base" hangingPunct="1">
        <a:spcBef>
          <a:spcPct val="20000"/>
        </a:spcBef>
        <a:spcAft>
          <a:spcPct val="0"/>
        </a:spcAft>
        <a:buChar char="•"/>
        <a:defRPr sz="311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1pPr>
      <a:lvl2pPr marL="825500" indent="-317500" algn="l" rtl="0" eaLnBrk="1" fontAlgn="base" hangingPunct="1">
        <a:spcBef>
          <a:spcPct val="20000"/>
        </a:spcBef>
        <a:spcAft>
          <a:spcPct val="0"/>
        </a:spcAft>
        <a:buChar char="–"/>
        <a:defRPr sz="2665">
          <a:solidFill>
            <a:schemeClr val="tx1"/>
          </a:solidFill>
          <a:latin typeface="+mn-lt"/>
          <a:ea typeface="ヒラギノ角ゴ Pro W3" charset="0"/>
        </a:defRPr>
      </a:lvl2pPr>
      <a:lvl3pPr marL="1270000" indent="-254000" algn="l" rtl="0" eaLnBrk="1" fontAlgn="base" hangingPunct="1">
        <a:spcBef>
          <a:spcPct val="20000"/>
        </a:spcBef>
        <a:spcAft>
          <a:spcPct val="0"/>
        </a:spcAft>
        <a:buChar char="•"/>
        <a:defRPr sz="2220">
          <a:solidFill>
            <a:schemeClr val="tx1"/>
          </a:solidFill>
          <a:latin typeface="+mn-lt"/>
          <a:ea typeface="ヒラギノ角ゴ Pro W3" charset="0"/>
        </a:defRPr>
      </a:lvl3pPr>
      <a:lvl4pPr marL="1778000" indent="-2540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charset="0"/>
        </a:defRPr>
      </a:lvl4pPr>
      <a:lvl5pPr marL="2286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charset="0"/>
        </a:defRPr>
      </a:lvl5pPr>
      <a:lvl6pPr marL="2794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302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810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18000" indent="-2540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2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0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altLang="en-US" sz="2800">
                <a:sym typeface="+mn-ea"/>
              </a:rPr>
              <a:t>Automated File Update Notification Automation Using Power Automate</a:t>
            </a:r>
            <a:endParaRPr lang="de-DE" sz="2800" dirty="0" err="1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de-DE" dirty="0">
                <a:ea typeface="ヒラギノ角ゴ Pro W3"/>
              </a:rPr>
              <a:t>Jack</a:t>
            </a:r>
            <a:endParaRPr lang="de-DE" dirty="0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Business Problem</a:t>
            </a:r>
            <a:endParaRPr lang="en-US" altLang="en-US" sz="265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7040" y="1549400"/>
            <a:ext cx="9712325" cy="20294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New files within project folders require manual notification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Employees need to remember to inform relevant stakeholders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High risk of missed or delayed communication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Lack of visibility on file updates across teams</a:t>
            </a:r>
            <a:endParaRPr lang="en-US" altLang="en-US" sz="16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Inefficient collaboration and dependency on manual follow-ups</a:t>
            </a:r>
            <a:endParaRPr lang="en-US" altLang="en-US" sz="1600"/>
          </a:p>
          <a:p>
            <a:endParaRPr lang="en-US" sz="2000" dirty="0">
              <a:latin typeface="+mn-lt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Solution Overview</a:t>
            </a:r>
            <a:endParaRPr lang="en-US" altLang="en-US" sz="2650" b="1" dirty="0">
              <a:solidFill>
                <a:schemeClr val="tx1"/>
              </a:solidFill>
              <a:cs typeface="Arial" panose="020B0604020202020204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7515" y="1549400"/>
            <a:ext cx="9722485" cy="39135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no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Built an </a:t>
            </a:r>
            <a:r>
              <a:rPr lang="en-US" altLang="en-US" b="1">
                <a:sym typeface="+mn-ea"/>
              </a:rPr>
              <a:t>automated file-triggered notification workflow</a:t>
            </a:r>
            <a:endParaRPr lang="en-US" altLang="en-US" b="1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Detects when a new file is created in project folders</a:t>
            </a:r>
            <a:endParaRPr lang="en-US" altLang="en-US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Extracts: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>
                <a:sym typeface="+mn-ea"/>
              </a:rPr>
              <a:t>Project identifier (e.g. HXX)</a:t>
            </a:r>
            <a:endParaRPr lang="en-US" altLang="en-US" sz="14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>
                <a:sym typeface="+mn-ea"/>
              </a:rPr>
              <a:t>Subfolder location</a:t>
            </a:r>
            <a:endParaRPr lang="en-US" altLang="en-US" sz="14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>
                <a:sym typeface="+mn-ea"/>
              </a:rPr>
              <a:t>File name</a:t>
            </a:r>
            <a:endParaRPr lang="en-US" altLang="en-US" sz="14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Retrieves file content automatically</a:t>
            </a:r>
            <a:endParaRPr lang="en-US" altLang="en-US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Sends notification email to relevant stakeholders including:</a:t>
            </a:r>
            <a:endParaRPr lang="en-US" altLang="en-US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>
                <a:sym typeface="+mn-ea"/>
              </a:rPr>
              <a:t>Project name</a:t>
            </a:r>
            <a:endParaRPr lang="en-US" altLang="en-US" sz="14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>
                <a:sym typeface="+mn-ea"/>
              </a:rPr>
              <a:t>File name</a:t>
            </a:r>
            <a:endParaRPr lang="en-US" altLang="en-US" sz="14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>
                <a:sym typeface="+mn-ea"/>
              </a:rPr>
              <a:t>Folder location</a:t>
            </a:r>
            <a:endParaRPr lang="en-US" altLang="en-US" sz="14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1400">
                <a:sym typeface="+mn-ea"/>
              </a:rPr>
              <a:t>File attachment</a:t>
            </a:r>
            <a:endParaRPr lang="en-US" altLang="en-US" sz="14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Implemented </a:t>
            </a:r>
            <a:r>
              <a:rPr lang="en-US" altLang="en-US" b="1">
                <a:sym typeface="+mn-ea"/>
              </a:rPr>
              <a:t>failure &amp; timeout alerts</a:t>
            </a:r>
            <a:r>
              <a:rPr lang="en-US" altLang="en-US">
                <a:sym typeface="+mn-ea"/>
              </a:rPr>
              <a:t> to maintenance team</a:t>
            </a:r>
            <a:endParaRPr lang="en-US" altLang="en-US"/>
          </a:p>
          <a:p>
            <a:pPr algn="ctr"/>
            <a:endParaRPr lang="en-US" sz="1600" b="0" i="0" dirty="0" err="1">
              <a:latin typeface="+mn-lt"/>
              <a:cs typeface="Helvetic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pPr algn="l"/>
            <a:r>
              <a:rPr lang="en-US" altLang="en-US" sz="2700" b="1">
                <a:solidFill>
                  <a:schemeClr val="tx1"/>
                </a:solidFill>
                <a:sym typeface="+mn-ea"/>
              </a:rPr>
              <a:t>Business Impact</a:t>
            </a:r>
            <a:endParaRPr lang="en-US" altLang="en-US" sz="27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 lIns="0" tIns="0" rIns="91440" bIns="45720" anchor="t" anchorCtr="0"/>
          <a:lstStyle/>
          <a:p>
            <a:r>
              <a:rPr lang="en-US" altLang="en-US">
                <a:sym typeface="+mn-ea"/>
              </a:rPr>
              <a:t>Estimated effort for update process</a:t>
            </a:r>
            <a:endParaRPr lang="en-US" altLang="en-US"/>
          </a:p>
          <a:p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7132693" y="1340371"/>
            <a:ext cx="1440255" cy="37721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ptos"/>
              </a:defRPr>
            </a:pPr>
            <a:r>
              <a:rPr sz="825"/>
              <a:t>≈ </a:t>
            </a:r>
            <a:r>
              <a:rPr lang="en-US" sz="825"/>
              <a:t>90</a:t>
            </a:r>
            <a:r>
              <a:rPr sz="825"/>
              <a:t>–9</a:t>
            </a:r>
            <a:r>
              <a:rPr lang="en-US" sz="825"/>
              <a:t>5</a:t>
            </a:r>
            <a:r>
              <a:rPr sz="825"/>
              <a:t>% less effort</a:t>
            </a:r>
            <a:endParaRPr sz="825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44529" y="1340410"/>
          <a:ext cx="5280935" cy="3223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38229" y="2057329"/>
            <a:ext cx="2434717" cy="2983385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12" name="TextBox 6"/>
          <p:cNvSpPr txBox="1"/>
          <p:nvPr/>
        </p:nvSpPr>
        <p:spPr>
          <a:xfrm>
            <a:off x="6343980" y="2263079"/>
            <a:ext cx="887730" cy="252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7280"/>
                </a:solidFill>
                <a:latin typeface="Aptos"/>
              </a:defRPr>
            </a:pPr>
            <a:r>
              <a:rPr sz="1050"/>
              <a:t>Time saved</a:t>
            </a:r>
            <a:endParaRPr sz="1050"/>
          </a:p>
        </p:txBody>
      </p:sp>
      <p:sp>
        <p:nvSpPr>
          <p:cNvPr id="13" name="TextBox 7"/>
          <p:cNvSpPr txBox="1"/>
          <p:nvPr/>
        </p:nvSpPr>
        <p:spPr>
          <a:xfrm>
            <a:off x="6323405" y="2537414"/>
            <a:ext cx="1351280" cy="575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Aptos"/>
              </a:defRPr>
            </a:pPr>
            <a:r>
              <a:rPr sz="2100"/>
              <a:t>~</a:t>
            </a:r>
            <a:r>
              <a:rPr lang="en-US" sz="2100"/>
              <a:t>19</a:t>
            </a:r>
            <a:r>
              <a:rPr sz="2100"/>
              <a:t> mins</a:t>
            </a:r>
            <a:endParaRPr sz="2100"/>
          </a:p>
          <a:p>
            <a:pPr>
              <a:defRPr sz="1400">
                <a:solidFill>
                  <a:srgbClr val="6B7280"/>
                </a:solidFill>
                <a:latin typeface="Aptos"/>
              </a:defRPr>
            </a:pPr>
            <a:r>
              <a:rPr sz="1050"/>
              <a:t>per </a:t>
            </a:r>
            <a:r>
              <a:rPr lang="en-US" sz="1050"/>
              <a:t>update</a:t>
            </a:r>
            <a:endParaRPr lang="en-US" sz="1050"/>
          </a:p>
        </p:txBody>
      </p:sp>
      <p:sp>
        <p:nvSpPr>
          <p:cNvPr id="14" name="Rectangle 8"/>
          <p:cNvSpPr/>
          <p:nvPr/>
        </p:nvSpPr>
        <p:spPr>
          <a:xfrm>
            <a:off x="6309689" y="3154666"/>
            <a:ext cx="2091799" cy="685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"/>
          </a:p>
        </p:txBody>
      </p:sp>
      <p:sp>
        <p:nvSpPr>
          <p:cNvPr id="15" name="TextBox 9"/>
          <p:cNvSpPr txBox="1"/>
          <p:nvPr/>
        </p:nvSpPr>
        <p:spPr>
          <a:xfrm>
            <a:off x="6343980" y="3291833"/>
            <a:ext cx="2023215" cy="141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Ensures</a:t>
            </a:r>
            <a:r>
              <a:rPr lang="en-US" altLang="en-US" sz="825" b="1"/>
              <a:t> real-time visibility of file updates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Eliminates dependency on manual communication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Reduces risk of missed or delayed notifications</a:t>
            </a:r>
            <a:endParaRPr lang="en-US" altLang="en-US" sz="825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  <a:latin typeface="Aptos"/>
              </a:defRPr>
            </a:pPr>
            <a:r>
              <a:rPr lang="en-US" altLang="en-US" sz="825"/>
              <a:t>Improves cross-team collaboration efficiency</a:t>
            </a:r>
            <a:endParaRPr lang="en-US" altLang="en-US" sz="825"/>
          </a:p>
        </p:txBody>
      </p:sp>
      <p:sp>
        <p:nvSpPr>
          <p:cNvPr id="16" name="TextBox 10"/>
          <p:cNvSpPr txBox="1"/>
          <p:nvPr/>
        </p:nvSpPr>
        <p:spPr>
          <a:xfrm>
            <a:off x="548669" y="4845152"/>
            <a:ext cx="2125980" cy="195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B7280"/>
                </a:solidFill>
                <a:latin typeface="Aptos"/>
              </a:defRPr>
            </a:pPr>
            <a:r>
              <a:rPr sz="675"/>
              <a:t>Estimates based on typical </a:t>
            </a:r>
            <a:r>
              <a:rPr lang="en-US" sz="675"/>
              <a:t>update </a:t>
            </a:r>
            <a:r>
              <a:rPr lang="en-US" altLang="en-US" sz="675"/>
              <a:t>processing time.</a:t>
            </a:r>
            <a:endParaRPr lang="en-US" altLang="en-US" sz="67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lIns="0" tIns="0" rIns="91440" bIns="45720" anchor="t"/>
          <a:lstStyle/>
          <a:p>
            <a:r>
              <a:rPr lang="en-US" altLang="en-US" sz="2650" b="1">
                <a:solidFill>
                  <a:schemeClr val="tx1"/>
                </a:solidFill>
                <a:sym typeface="+mn-ea"/>
              </a:rPr>
              <a:t>Flow Description</a:t>
            </a:r>
            <a:endParaRPr lang="en-US" altLang="en-US" sz="2650" b="1" dirty="0">
              <a:solidFill>
                <a:schemeClr val="tx1"/>
              </a:solidFill>
              <a:ea typeface="ヒラギノ角ゴ Pro W3"/>
              <a:sym typeface="+mn-ea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AUTOMATED FILE UPDATE NOTIFICATION AUTOMATION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37323" y="1560741"/>
            <a:ext cx="8675220" cy="23234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b="1">
                <a:sym typeface="+mn-ea"/>
              </a:rPr>
              <a:t>Trigger: </a:t>
            </a:r>
            <a:r>
              <a:rPr lang="en-US" altLang="en-US">
                <a:sym typeface="+mn-ea"/>
              </a:rPr>
              <a:t>File created in SharePoint folder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Extract folder path segments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Identify project code (e.g. HXX) &amp; subfolder location (if there are any)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Retrieve file content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Construct notification email &amp; Attach file to email</a:t>
            </a:r>
            <a:endParaRPr lang="en-US" altLang="en-US"/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>
                <a:sym typeface="+mn-ea"/>
              </a:rPr>
              <a:t>Send email to relevant stakeholders</a:t>
            </a:r>
            <a:endParaRPr lang="en-US" sz="1600" b="0" i="0" dirty="0" err="1">
              <a:latin typeface="+mn-lt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75AC44E-D15D-4D2D-9447-BD01CDAF6368}" type="slidenum">
              <a:rPr lang="de-DE" smtClean="0"/>
            </a:fld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endParaRPr lang="de-DE"/>
          </a:p>
        </p:txBody>
      </p:sp>
      <p:pic>
        <p:nvPicPr>
          <p:cNvPr id="7" name="Picture 6" descr="Notification of new it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1030" y="499110"/>
            <a:ext cx="2241550" cy="4963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äsentationsvorlage 2014 (16-10)">
  <a:themeElements>
    <a:clrScheme name="EHK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C2332"/>
      </a:accent1>
      <a:accent2>
        <a:srgbClr val="D20A28"/>
      </a:accent2>
      <a:accent3>
        <a:srgbClr val="F07249"/>
      </a:accent3>
      <a:accent4>
        <a:srgbClr val="969696"/>
      </a:accent4>
      <a:accent5>
        <a:srgbClr val="5A5A5A"/>
      </a:accent5>
      <a:accent6>
        <a:srgbClr val="282828"/>
      </a:accent6>
      <a:hlink>
        <a:srgbClr val="FBE0BD"/>
      </a:hlink>
      <a:folHlink>
        <a:srgbClr val="BFBFBF"/>
      </a:folHlink>
    </a:clrScheme>
    <a:fontScheme name="Haefele_Praesentationsvorlage_10_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600" b="0" i="0" dirty="0" err="1" smtClean="0">
            <a:latin typeface="+mn-lt"/>
            <a:cs typeface="Helvetica Light"/>
          </a:defRPr>
        </a:defPPr>
      </a:lstStyle>
    </a:txDef>
  </a:objectDefaults>
  <a:extraClrSchemeLst>
    <a:extraClrScheme>
      <a:clrScheme name="Haefele_Praesentationsvorlage_10_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efele_Praesentationsvorlage_10_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efele_Praesentationsvorlage_10_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 2014 (16-10)</Template>
  <TotalTime>0</TotalTime>
  <Words>1397</Words>
  <Application>WPS Presentation</Application>
  <PresentationFormat>Custom</PresentationFormat>
  <Paragraphs>80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ヒラギノ角ゴ Pro W3</vt:lpstr>
      <vt:lpstr>Yu Gothic</vt:lpstr>
      <vt:lpstr>Helvetica Light</vt:lpstr>
      <vt:lpstr>ヒラギノ角ゴ Pro W3</vt:lpstr>
      <vt:lpstr>Segoe Print</vt:lpstr>
      <vt:lpstr>Symbol</vt:lpstr>
      <vt:lpstr>ヒラギノ角ゴ Pro W3</vt:lpstr>
      <vt:lpstr>Arial</vt:lpstr>
      <vt:lpstr>Arial,Sans-Serif</vt:lpstr>
      <vt:lpstr>微软雅黑</vt:lpstr>
      <vt:lpstr>Arial Unicode MS</vt:lpstr>
      <vt:lpstr>Aptos</vt:lpstr>
      <vt:lpstr>Segoe UI</vt:lpstr>
      <vt:lpstr>Präsentationsvorlage 2014 (16-10)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Häfele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Bernd Schatz</dc:creator>
  <cp:lastModifiedBy>jack cheng</cp:lastModifiedBy>
  <cp:revision>450</cp:revision>
  <cp:lastPrinted>2013-02-14T10:02:00Z</cp:lastPrinted>
  <dcterms:created xsi:type="dcterms:W3CDTF">2015-04-09T13:40:00Z</dcterms:created>
  <dcterms:modified xsi:type="dcterms:W3CDTF">2026-04-07T21:42:11Z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ICV">
    <vt:lpwstr>4440CC36A5CE49D3880ED9B88BB8F59E_12</vt:lpwstr>
  </property>
  <property fmtid="{D5CDD505-2E9C-101B-9397-08002B2CF9AE}" pid="4" name="KSOProductBuildVer">
    <vt:lpwstr>1033-12.2.0.23196</vt:lpwstr>
  </property>
</Properties>
</file>