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8" r:id="rId4"/>
    <p:sldId id="269" r:id="rId5"/>
    <p:sldId id="270" r:id="rId6"/>
    <p:sldId id="278" r:id="rId7"/>
    <p:sldId id="279" r:id="rId8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93" userDrawn="1">
          <p15:clr>
            <a:srgbClr val="A4A3A4"/>
          </p15:clr>
        </p15:guide>
        <p15:guide id="6" orient="horz" pos="3441" userDrawn="1">
          <p15:clr>
            <a:srgbClr val="A4A3A4"/>
          </p15:clr>
        </p15:guide>
        <p15:guide id="3" orient="horz" pos="0" userDrawn="1">
          <p15:clr>
            <a:srgbClr val="A4A3A4"/>
          </p15:clr>
        </p15:guide>
        <p15:guide id="4" orient="horz" pos="660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7" pos="3099" userDrawn="1">
          <p15:clr>
            <a:srgbClr val="A4A3A4"/>
          </p15:clr>
        </p15:guide>
        <p15:guide id="8" pos="6074" userDrawn="1">
          <p15:clr>
            <a:srgbClr val="A4A3A4"/>
          </p15:clr>
        </p15:guide>
        <p15:guide id="9" pos="3284" userDrawn="1">
          <p15:clr>
            <a:srgbClr val="A4A3A4"/>
          </p15:clr>
        </p15:guide>
        <p15:guide id="10" pos="982" userDrawn="1">
          <p15:clr>
            <a:srgbClr val="A4A3A4"/>
          </p15:clr>
        </p15:guide>
        <p15:guide id="11" pos="2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93"/>
        <p:guide orient="horz" pos="3441"/>
        <p:guide orient="horz"/>
        <p:guide orient="horz" pos="660"/>
        <p:guide orient="horz" pos="425"/>
        <p:guide pos="3099"/>
        <p:guide pos="6074"/>
        <p:guide pos="3284"/>
        <p:guide pos="982"/>
        <p:guide pos="2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47"/>
        <p:guide pos="206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Rebate Tracking &amp; Reporting Automation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040" y="1549400"/>
            <a:ext cx="9712960" cy="2029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Rebate tracking required manual calculation across multiple Excel files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Profit data split between issued and unissued orders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Time-consuming to calculate total profit and rebate eligibility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High risk of calculation errors and outdated reporting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No real-time visibility for sales team on rebate progress</a:t>
            </a:r>
            <a:endParaRPr lang="en-US" altLang="en-US" sz="1600"/>
          </a:p>
          <a:p>
            <a:endParaRPr lang="en-US" sz="20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37852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Built </a:t>
            </a:r>
            <a:r>
              <a:rPr lang="en-US" altLang="en-US" sz="1600" b="1">
                <a:sym typeface="+mn-ea"/>
              </a:rPr>
              <a:t>monthly automated rebate tracking workflow</a:t>
            </a:r>
            <a:endParaRPr lang="en-US" altLang="en-US" sz="1600" b="1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Triggered automatically on a scheduled basis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Aggregates profit from:</a:t>
            </a:r>
            <a:endParaRPr lang="en-US" altLang="en-US" sz="16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sym typeface="+mn-ea"/>
              </a:rPr>
              <a:t>Issued orders (Excel 1)</a:t>
            </a:r>
            <a:endParaRPr lang="en-US" altLang="en-US" sz="16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sym typeface="+mn-ea"/>
              </a:rPr>
              <a:t>Unissued orders (Excel 2)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Combines total profit into a single value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Compares total profit against rebate thresholds (Excel 3)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Identifies:</a:t>
            </a:r>
            <a:endParaRPr lang="en-US" altLang="en-US" sz="16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sym typeface="+mn-ea"/>
              </a:rPr>
              <a:t>Current rebate level</a:t>
            </a:r>
            <a:endParaRPr lang="en-US" altLang="en-US" sz="16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600">
                <a:sym typeface="+mn-ea"/>
              </a:rPr>
              <a:t>Remaining profit to next rebate tier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Automatically sends rebate status report to sales team</a:t>
            </a:r>
            <a:endParaRPr lang="en-US" altLang="en-US" sz="16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Implemented </a:t>
            </a:r>
            <a:r>
              <a:rPr lang="en-US" altLang="en-US" sz="1600" b="1">
                <a:sym typeface="+mn-ea"/>
              </a:rPr>
              <a:t>failure &amp; timeout alerts</a:t>
            </a:r>
            <a:r>
              <a:rPr lang="en-US" altLang="en-US" sz="1600">
                <a:sym typeface="+mn-ea"/>
              </a:rPr>
              <a:t> to maintenance team</a:t>
            </a:r>
            <a:endParaRPr lang="en-US" altLang="en-US" sz="1600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650" b="1" dirty="0">
              <a:solidFill>
                <a:schemeClr val="tx1"/>
              </a:solidFill>
              <a:ea typeface="ヒラギノ角ゴ Pro W3"/>
              <a:sym typeface="+mn-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32693" y="1340371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lang="en-US" sz="825"/>
              <a:t>8</a:t>
            </a:r>
            <a:r>
              <a:rPr sz="825"/>
              <a:t>5–9</a:t>
            </a:r>
            <a:r>
              <a:rPr lang="en-US" sz="825"/>
              <a:t>5</a:t>
            </a:r>
            <a:r>
              <a:rPr sz="825"/>
              <a:t>% less effort</a:t>
            </a:r>
            <a:endParaRPr sz="825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44529" y="1340410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38229" y="2057329"/>
            <a:ext cx="2434717" cy="2983385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0" name="TextBox 6"/>
          <p:cNvSpPr txBox="1"/>
          <p:nvPr/>
        </p:nvSpPr>
        <p:spPr>
          <a:xfrm>
            <a:off x="6343980" y="2263079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11" name="TextBox 7"/>
          <p:cNvSpPr txBox="1"/>
          <p:nvPr/>
        </p:nvSpPr>
        <p:spPr>
          <a:xfrm>
            <a:off x="6323405" y="2537414"/>
            <a:ext cx="150495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10</a:t>
            </a:r>
            <a:r>
              <a:rPr sz="2100"/>
              <a:t>0 mins</a:t>
            </a:r>
            <a:endParaRPr sz="2100"/>
          </a:p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</a:t>
            </a:r>
            <a:r>
              <a:rPr lang="en-US" sz="1050"/>
              <a:t>process</a:t>
            </a:r>
            <a:endParaRPr lang="en-US" sz="1050"/>
          </a:p>
        </p:txBody>
      </p:sp>
      <p:sp>
        <p:nvSpPr>
          <p:cNvPr id="12" name="Rectangle 8"/>
          <p:cNvSpPr/>
          <p:nvPr/>
        </p:nvSpPr>
        <p:spPr>
          <a:xfrm>
            <a:off x="6309689" y="3154666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3" name="TextBox 9"/>
          <p:cNvSpPr txBox="1"/>
          <p:nvPr/>
        </p:nvSpPr>
        <p:spPr>
          <a:xfrm>
            <a:off x="6343980" y="3291833"/>
            <a:ext cx="2023215" cy="1189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Eliminates manual consolidationacross multiple Excel sources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Ensures accurate and consistentrebate calculations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Provides timely, decision-ready insights for the sales team</a:t>
            </a:r>
            <a:endParaRPr lang="en-US" altLang="en-US" sz="825"/>
          </a:p>
        </p:txBody>
      </p:sp>
      <p:sp>
        <p:nvSpPr>
          <p:cNvPr id="14" name="TextBox 10"/>
          <p:cNvSpPr txBox="1"/>
          <p:nvPr/>
        </p:nvSpPr>
        <p:spPr>
          <a:xfrm>
            <a:off x="548669" y="4843247"/>
            <a:ext cx="2195830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</a:t>
            </a:r>
            <a:r>
              <a:rPr lang="en-US" altLang="en-US" sz="675"/>
              <a:t> monthly processing time.</a:t>
            </a:r>
            <a:endParaRPr lang="en-US" altLang="en-US" sz="675"/>
          </a:p>
        </p:txBody>
      </p:sp>
      <p:sp>
        <p:nvSpPr>
          <p:cNvPr id="1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Estimated effort for rebate tracking process</a:t>
            </a:r>
            <a:endParaRPr lang="en-US" altLang="en-US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420" y="675005"/>
            <a:ext cx="9720580" cy="349885"/>
          </a:xfrm>
        </p:spPr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Description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405" y="1577340"/>
            <a:ext cx="9714230" cy="1660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Trigger: Monthly scheduled automation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Retrieve profit data from Excel 1 (Issued Orders) &amp; </a:t>
            </a:r>
            <a:r>
              <a:rPr lang="en-US" altLang="en-US">
                <a:sym typeface="+mn-ea"/>
              </a:rPr>
              <a:t>Excel 2 (Unissued Orders)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Calculate total profit &amp; </a:t>
            </a:r>
            <a:r>
              <a:rPr lang="en-US" altLang="en-US">
                <a:sym typeface="+mn-ea"/>
              </a:rPr>
              <a:t>Compare total profit against rebate thresholds</a:t>
            </a:r>
            <a:r>
              <a:rPr lang="en-US" altLang="en-US">
                <a:sym typeface="+mn-ea"/>
              </a:rPr>
              <a:t> from Excel 3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Identify current rebate status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Send report to sales team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5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ym typeface="+mn-ea"/>
              </a:rPr>
              <a:t>Rebate Tracking &amp; Reporting Automation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9" name="Rounded Rectangle 138"/>
          <p:cNvSpPr/>
          <p:nvPr/>
        </p:nvSpPr>
        <p:spPr>
          <a:xfrm>
            <a:off x="3122295" y="5025390"/>
            <a:ext cx="3853815" cy="4381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40" name="Rounded Rectangle 139"/>
          <p:cNvSpPr/>
          <p:nvPr/>
        </p:nvSpPr>
        <p:spPr>
          <a:xfrm>
            <a:off x="3086735" y="3899535"/>
            <a:ext cx="3853815" cy="96647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41" name="Rounded Rectangle 140"/>
          <p:cNvSpPr/>
          <p:nvPr/>
        </p:nvSpPr>
        <p:spPr>
          <a:xfrm>
            <a:off x="3027045" y="871855"/>
            <a:ext cx="3853815" cy="28206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42" name="Rectangles 141"/>
          <p:cNvSpPr/>
          <p:nvPr/>
        </p:nvSpPr>
        <p:spPr>
          <a:xfrm>
            <a:off x="3402330" y="805815"/>
            <a:ext cx="3146425" cy="181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Try</a:t>
            </a:r>
            <a:endParaRPr lang="en-US" sz="800" strike="noStrike" noProof="1"/>
          </a:p>
        </p:txBody>
      </p:sp>
      <p:sp>
        <p:nvSpPr>
          <p:cNvPr id="143" name="Rectangles 142"/>
          <p:cNvSpPr/>
          <p:nvPr/>
        </p:nvSpPr>
        <p:spPr>
          <a:xfrm>
            <a:off x="3429000" y="3780790"/>
            <a:ext cx="3146425" cy="18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Catch</a:t>
            </a:r>
            <a:endParaRPr lang="en-US" sz="800" strike="noStrike" noProof="1"/>
          </a:p>
        </p:txBody>
      </p:sp>
      <p:sp>
        <p:nvSpPr>
          <p:cNvPr id="144" name="Rectangles 143"/>
          <p:cNvSpPr/>
          <p:nvPr/>
        </p:nvSpPr>
        <p:spPr>
          <a:xfrm>
            <a:off x="3435350" y="4946015"/>
            <a:ext cx="3146425" cy="1822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/>
              <a:t>Scope - Finally</a:t>
            </a:r>
            <a:endParaRPr lang="en-US" sz="800" strike="noStrike" noProof="1"/>
          </a:p>
        </p:txBody>
      </p:sp>
      <p:pic>
        <p:nvPicPr>
          <p:cNvPr id="14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795" y="4949190"/>
            <a:ext cx="206375" cy="1765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" name="Rectangles 145"/>
          <p:cNvSpPr/>
          <p:nvPr/>
        </p:nvSpPr>
        <p:spPr>
          <a:xfrm>
            <a:off x="3402330" y="1588770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Get </a:t>
            </a:r>
            <a:r>
              <a:rPr lang="en-US" altLang="en-US" sz="800" strike="noStrike" noProof="1">
                <a:solidFill>
                  <a:schemeClr val="tx1"/>
                </a:solidFill>
              </a:rPr>
              <a:t>Profit Data from Excel 2 (Unissued Orders)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47" name="Rectangles 146"/>
          <p:cNvSpPr/>
          <p:nvPr/>
        </p:nvSpPr>
        <p:spPr>
          <a:xfrm>
            <a:off x="3402330" y="1858645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 Calculate Total Profit from Unissued Orders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48" name="Down Arrow 147"/>
          <p:cNvSpPr/>
          <p:nvPr/>
        </p:nvSpPr>
        <p:spPr>
          <a:xfrm>
            <a:off x="4930775" y="176974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49" name="Down Arrow 148"/>
          <p:cNvSpPr/>
          <p:nvPr/>
        </p:nvSpPr>
        <p:spPr>
          <a:xfrm>
            <a:off x="4930775" y="204914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0" name="Rectangles 149"/>
          <p:cNvSpPr/>
          <p:nvPr/>
        </p:nvSpPr>
        <p:spPr>
          <a:xfrm>
            <a:off x="3429000" y="4050665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Capture Error Details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51" name="Down Arrow 150"/>
          <p:cNvSpPr/>
          <p:nvPr/>
        </p:nvSpPr>
        <p:spPr>
          <a:xfrm>
            <a:off x="4955540" y="396176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2" name="Down Arrow 151"/>
          <p:cNvSpPr/>
          <p:nvPr/>
        </p:nvSpPr>
        <p:spPr>
          <a:xfrm>
            <a:off x="4955540" y="424116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3" name="Rectangles 152"/>
          <p:cNvSpPr/>
          <p:nvPr/>
        </p:nvSpPr>
        <p:spPr>
          <a:xfrm>
            <a:off x="3429000" y="4343400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Update Status → Failed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54" name="Rectangles 153"/>
          <p:cNvSpPr/>
          <p:nvPr/>
        </p:nvSpPr>
        <p:spPr>
          <a:xfrm>
            <a:off x="3429000" y="4613275"/>
            <a:ext cx="3146425" cy="179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Send Failure Email (Maintenance)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55" name="Down Arrow 154"/>
          <p:cNvSpPr/>
          <p:nvPr/>
        </p:nvSpPr>
        <p:spPr>
          <a:xfrm>
            <a:off x="4955540" y="452437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6" name="Down Arrow 155"/>
          <p:cNvSpPr/>
          <p:nvPr/>
        </p:nvSpPr>
        <p:spPr>
          <a:xfrm>
            <a:off x="4963795" y="486600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7" name="Down Arrow 156"/>
          <p:cNvSpPr/>
          <p:nvPr/>
        </p:nvSpPr>
        <p:spPr>
          <a:xfrm>
            <a:off x="4963795" y="512826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58" name="Rectangles 157"/>
          <p:cNvSpPr/>
          <p:nvPr/>
        </p:nvSpPr>
        <p:spPr>
          <a:xfrm>
            <a:off x="3437255" y="5230495"/>
            <a:ext cx="3144520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Write Audit Log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59" name="Rectangles 158"/>
          <p:cNvSpPr/>
          <p:nvPr/>
        </p:nvSpPr>
        <p:spPr>
          <a:xfrm>
            <a:off x="3402330" y="538480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800" strike="noStrike" noProof="1">
                <a:solidFill>
                  <a:schemeClr val="tx1"/>
                </a:solidFill>
              </a:rPr>
              <a:t>Recurrence - Monthly Automatic trigger</a:t>
            </a:r>
            <a:endParaRPr 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60" name="Down Arrow 159"/>
          <p:cNvSpPr/>
          <p:nvPr/>
        </p:nvSpPr>
        <p:spPr>
          <a:xfrm>
            <a:off x="4930775" y="72009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61" name="Down Arrow 160"/>
          <p:cNvSpPr/>
          <p:nvPr/>
        </p:nvSpPr>
        <p:spPr>
          <a:xfrm>
            <a:off x="4930775" y="98679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62" name="Rectangles 161"/>
          <p:cNvSpPr/>
          <p:nvPr/>
        </p:nvSpPr>
        <p:spPr>
          <a:xfrm>
            <a:off x="3406140" y="2133600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Combine Total Profit from Both Sources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63" name="Rectangles 162"/>
          <p:cNvSpPr/>
          <p:nvPr/>
        </p:nvSpPr>
        <p:spPr>
          <a:xfrm>
            <a:off x="3402330" y="1328420"/>
            <a:ext cx="3146425" cy="179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Calculate Total Profit from Issued Orders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64" name="Down Arrow 163"/>
          <p:cNvSpPr/>
          <p:nvPr/>
        </p:nvSpPr>
        <p:spPr>
          <a:xfrm>
            <a:off x="4930775" y="150812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pic>
        <p:nvPicPr>
          <p:cNvPr id="16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6140" y="807720"/>
            <a:ext cx="24003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795" y="3780790"/>
            <a:ext cx="206375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7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030" y="4615180"/>
            <a:ext cx="231775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8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50" y="4343400"/>
            <a:ext cx="21082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9" name="Picture 1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350" y="4053205"/>
            <a:ext cx="21082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0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145" y="5233035"/>
            <a:ext cx="20066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1" name="Picture 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980" y="538480"/>
            <a:ext cx="249555" cy="177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2" name="Rectangles 171"/>
          <p:cNvSpPr/>
          <p:nvPr/>
        </p:nvSpPr>
        <p:spPr>
          <a:xfrm>
            <a:off x="3402330" y="1066800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Get Profit Data from Excel 1 (Issued Orders)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73" name="Down Arrow 172"/>
          <p:cNvSpPr/>
          <p:nvPr/>
        </p:nvSpPr>
        <p:spPr>
          <a:xfrm>
            <a:off x="4930775" y="124841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74" name="Down Arrow 173"/>
          <p:cNvSpPr/>
          <p:nvPr/>
        </p:nvSpPr>
        <p:spPr>
          <a:xfrm>
            <a:off x="4930775" y="369697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75" name="Rectangles 174"/>
          <p:cNvSpPr/>
          <p:nvPr/>
        </p:nvSpPr>
        <p:spPr>
          <a:xfrm>
            <a:off x="3406140" y="2385695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  <a:sym typeface="+mn-ea"/>
              </a:rPr>
              <a:t>  Get </a:t>
            </a:r>
            <a:r>
              <a:rPr lang="en-US" altLang="en-US" sz="800" strike="noStrike" noProof="1">
                <a:solidFill>
                  <a:schemeClr val="tx1"/>
                </a:solidFill>
              </a:rPr>
              <a:t>Rebate Threshold Data from Excel 3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76" name="Rectangles 175"/>
          <p:cNvSpPr/>
          <p:nvPr/>
        </p:nvSpPr>
        <p:spPr>
          <a:xfrm>
            <a:off x="3406140" y="2656205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   Compare Current Total Profit Against Rebate Thresholds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77" name="Down Arrow 176"/>
          <p:cNvSpPr/>
          <p:nvPr/>
        </p:nvSpPr>
        <p:spPr>
          <a:xfrm>
            <a:off x="4935220" y="256730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78" name="Down Arrow 177"/>
          <p:cNvSpPr/>
          <p:nvPr/>
        </p:nvSpPr>
        <p:spPr>
          <a:xfrm>
            <a:off x="4935220" y="284607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79" name="Rectangles 178"/>
          <p:cNvSpPr/>
          <p:nvPr/>
        </p:nvSpPr>
        <p:spPr>
          <a:xfrm>
            <a:off x="3412490" y="2931160"/>
            <a:ext cx="3144520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Identify Current Rebate Point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80" name="Down Arrow 179"/>
          <p:cNvSpPr/>
          <p:nvPr/>
        </p:nvSpPr>
        <p:spPr>
          <a:xfrm>
            <a:off x="4935220" y="230568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81" name="Rectangles 180"/>
          <p:cNvSpPr/>
          <p:nvPr/>
        </p:nvSpPr>
        <p:spPr>
          <a:xfrm>
            <a:off x="3406140" y="3193415"/>
            <a:ext cx="3146425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 Calculate Remaining Profit Needed for the Next Rebate Point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sp>
        <p:nvSpPr>
          <p:cNvPr id="182" name="Down Arrow 181"/>
          <p:cNvSpPr/>
          <p:nvPr/>
        </p:nvSpPr>
        <p:spPr>
          <a:xfrm>
            <a:off x="4935220" y="3104515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83" name="Down Arrow 182"/>
          <p:cNvSpPr/>
          <p:nvPr/>
        </p:nvSpPr>
        <p:spPr>
          <a:xfrm>
            <a:off x="4935220" y="3383280"/>
            <a:ext cx="125095" cy="8001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800" strike="noStrike" noProof="1"/>
          </a:p>
        </p:txBody>
      </p:sp>
      <p:sp>
        <p:nvSpPr>
          <p:cNvPr id="184" name="Rectangles 183"/>
          <p:cNvSpPr/>
          <p:nvPr/>
        </p:nvSpPr>
        <p:spPr>
          <a:xfrm>
            <a:off x="3412490" y="3467735"/>
            <a:ext cx="3144520" cy="18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800" strike="noStrike" noProof="1">
                <a:solidFill>
                  <a:schemeClr val="tx1"/>
                </a:solidFill>
              </a:rPr>
              <a:t>    Send Rebate Status Report to Sales Team</a:t>
            </a:r>
            <a:endParaRPr lang="en-US" altLang="en-US" sz="800" strike="noStrike" noProof="1">
              <a:solidFill>
                <a:schemeClr val="tx1"/>
              </a:solidFill>
            </a:endParaRPr>
          </a:p>
        </p:txBody>
      </p:sp>
      <p:pic>
        <p:nvPicPr>
          <p:cNvPr id="185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440" y="3463290"/>
            <a:ext cx="25273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645" y="1066800"/>
            <a:ext cx="263525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330" y="1334770"/>
            <a:ext cx="24384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680" y="1590675"/>
            <a:ext cx="236855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9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1535" y="1870075"/>
            <a:ext cx="25400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0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1535" y="2135505"/>
            <a:ext cx="25400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1535" y="2385695"/>
            <a:ext cx="25400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2" name="Picture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030" y="2667000"/>
            <a:ext cx="231140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3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030" y="2925445"/>
            <a:ext cx="231775" cy="176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" name="Picture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645" y="3193415"/>
            <a:ext cx="264160" cy="176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2100</Words>
  <Application>WPS Presentation</Application>
  <PresentationFormat>Custom</PresentationFormat>
  <Paragraphs>113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Aptos</vt:lpstr>
      <vt:lpstr>微软雅黑</vt:lpstr>
      <vt:lpstr>Arial Unicode MS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451</cp:revision>
  <cp:lastPrinted>2013-02-14T10:02:00Z</cp:lastPrinted>
  <dcterms:created xsi:type="dcterms:W3CDTF">2015-04-09T13:40:00Z</dcterms:created>
  <dcterms:modified xsi:type="dcterms:W3CDTF">2026-04-07T22:18:20Z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84519FC350524A488F53750CA139D9E5_12</vt:lpwstr>
  </property>
  <property fmtid="{D5CDD505-2E9C-101B-9397-08002B2CF9AE}" pid="4" name="KSOProductBuildVer">
    <vt:lpwstr>1033-12.2.0.23196</vt:lpwstr>
  </property>
</Properties>
</file>