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68" r:id="rId4"/>
    <p:sldId id="269" r:id="rId5"/>
    <p:sldId id="270" r:id="rId6"/>
    <p:sldId id="278" r:id="rId7"/>
    <p:sldId id="291" r:id="rId8"/>
    <p:sldId id="289" r:id="rId9"/>
    <p:sldId id="292" r:id="rId10"/>
    <p:sldId id="290" r:id="rId11"/>
    <p:sldId id="293" r:id="rId12"/>
  </p:sldIdLst>
  <p:sldSz cx="10160000" cy="5715000"/>
  <p:notesSz cx="6648450" cy="985012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4" userDrawn="1">
          <p15:clr>
            <a:srgbClr val="A4A3A4"/>
          </p15:clr>
        </p15:guide>
        <p15:guide id="2" orient="horz" pos="3372" userDrawn="1">
          <p15:clr>
            <a:srgbClr val="A4A3A4"/>
          </p15:clr>
        </p15:guide>
        <p15:guide id="3" orient="horz" pos="-3" userDrawn="1">
          <p15:clr>
            <a:srgbClr val="A4A3A4"/>
          </p15:clr>
        </p15:guide>
        <p15:guide id="4" orient="horz" pos="655" userDrawn="1">
          <p15:clr>
            <a:srgbClr val="A4A3A4"/>
          </p15:clr>
        </p15:guide>
        <p15:guide id="5" orient="horz" pos="425" userDrawn="1">
          <p15:clr>
            <a:srgbClr val="A4A3A4"/>
          </p15:clr>
        </p15:guide>
        <p15:guide id="6" orient="horz" pos="3441" userDrawn="1">
          <p15:clr>
            <a:srgbClr val="A4A3A4"/>
          </p15:clr>
        </p15:guide>
        <p15:guide id="7" pos="3109" userDrawn="1">
          <p15:clr>
            <a:srgbClr val="A4A3A4"/>
          </p15:clr>
        </p15:guide>
        <p15:guide id="8" pos="6073" userDrawn="1">
          <p15:clr>
            <a:srgbClr val="A4A3A4"/>
          </p15:clr>
        </p15:guide>
        <p15:guide id="9" pos="3318" userDrawn="1">
          <p15:clr>
            <a:srgbClr val="A4A3A4"/>
          </p15:clr>
        </p15:guide>
        <p15:guide id="10" pos="1000" userDrawn="1">
          <p15:clr>
            <a:srgbClr val="A4A3A4"/>
          </p15:clr>
        </p15:guide>
        <p15:guide id="11" pos="2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8D3D6"/>
    <a:srgbClr val="7D001E"/>
    <a:srgbClr val="640014"/>
    <a:srgbClr val="960000"/>
    <a:srgbClr val="696969"/>
    <a:srgbClr val="DC0000"/>
    <a:srgbClr val="960028"/>
    <a:srgbClr val="BD003B"/>
    <a:srgbClr val="DBE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956" y="64"/>
      </p:cViewPr>
      <p:guideLst>
        <p:guide orient="horz" pos="984"/>
        <p:guide orient="horz" pos="3372"/>
        <p:guide orient="horz" pos="-3"/>
        <p:guide orient="horz" pos="655"/>
        <p:guide orient="horz" pos="425"/>
        <p:guide orient="horz" pos="3441"/>
        <p:guide pos="3109"/>
        <p:guide pos="6073"/>
        <p:guide pos="3318"/>
        <p:guide pos="1000"/>
        <p:guide pos="27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8"/>
        <p:guide pos="20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7728082243012"/>
          <c:y val="0.194710103653626"/>
          <c:w val="0.665818268923969"/>
          <c:h val="0.7603749796800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9CA3AF"/>
              </a:solidFill>
              <a:ln w="9525" cap="flat" cmpd="sng" algn="ctr">
                <a:solidFill>
                  <a:srgbClr val="9CA3AF"/>
                </a:solidFill>
                <a:prstDash val="solid"/>
                <a:round/>
              </a:ln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ln w="9525" cap="flat" cmpd="sng" algn="ctr">
                <a:solidFill>
                  <a:srgbClr val="22C55E"/>
                </a:solidFill>
                <a:prstDash val="solid"/>
                <a:round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Apto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Manual process</c:v>
                </c:pt>
                <c:pt idx="1">
                  <c:v>Automated process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</c:v>
                </c:pt>
                <c:pt idx="1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F8FAF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F2937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"/>
          <c:min val="0"/>
        </c:scaling>
        <c:delete val="0"/>
        <c:axPos val="t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000" b="0"/>
                  <a:t>Minutes</a:t>
                </a:r>
                <a:endParaRPr sz="1000" b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5E7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B7280"/>
                </a:solidFill>
                <a:latin typeface="Aptos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b60b151-6250-4ae6-a853-8f49a561d5b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EC345535-AF3F-4D13-83AC-666A27668071}" type="datetime1">
              <a:rPr lang="de-DE" smtClean="0"/>
            </a:fld>
            <a:endParaRPr lang="de-DE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1AC0386C-7505-488B-926D-937D76EB9CDE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64B208A8-9644-44A7-92E1-5EE79CE6CDB0}" type="datetime1">
              <a:rPr lang="de-DE" smtClean="0"/>
            </a:fld>
            <a:endParaRPr 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863" y="739775"/>
            <a:ext cx="6562725" cy="3692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4845" y="4678958"/>
            <a:ext cx="5318760" cy="443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/>
          <a:p>
            <a:pPr lvl="0"/>
            <a:r>
              <a:rPr lang="de-DE" noProof="0"/>
              <a:t>Textmasterformate durch Klicken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BC72A1BE-0E9C-48B4-B648-3C26A6064B17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456000" y="676276"/>
            <a:ext cx="8704000" cy="5042693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559612" y="3397727"/>
            <a:ext cx="8083570" cy="359874"/>
          </a:xfrm>
          <a:prstGeom prst="rect">
            <a:avLst/>
          </a:prstGeom>
          <a:ln w="0">
            <a:noFill/>
            <a:prstDash val="solid"/>
          </a:ln>
          <a:effectLst/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Occasion D</a:t>
            </a:r>
            <a:r>
              <a:rPr lang="en-US" altLang="zh-CN"/>
              <a:t>ate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1559609" y="3757085"/>
            <a:ext cx="8080898" cy="96062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40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Title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1559278" y="5318125"/>
            <a:ext cx="8081229" cy="3596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Autor</a:t>
            </a:r>
            <a:endParaRPr lang="de-DE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0" y="676276"/>
            <a:ext cx="1456000" cy="5042693"/>
            <a:chOff x="0" y="898525"/>
            <a:chExt cx="1310400" cy="5964238"/>
          </a:xfrm>
        </p:grpSpPr>
        <p:sp>
          <p:nvSpPr>
            <p:cNvPr id="9" name="Rechteck 8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159376" y="1562100"/>
            <a:ext cx="4483806" cy="3816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4"/>
            <a:endParaRPr lang="de-DE"/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9" y="1562100"/>
            <a:ext cx="4494803" cy="38163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53975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7855" y="5462589"/>
            <a:ext cx="8185329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10" y="674687"/>
            <a:ext cx="9203972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39209" y="1039812"/>
            <a:ext cx="9203971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7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3816350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 mit Text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2563" y="5462589"/>
            <a:ext cx="8190621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7"/>
            <a:ext cx="9193391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39208" y="3555324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456000" y="676276"/>
            <a:ext cx="8704000" cy="5038727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/>
          <p:cNvGrpSpPr/>
          <p:nvPr userDrawn="1"/>
        </p:nvGrpSpPr>
        <p:grpSpPr>
          <a:xfrm>
            <a:off x="0" y="676273"/>
            <a:ext cx="1456000" cy="5038728"/>
            <a:chOff x="0" y="898525"/>
            <a:chExt cx="1310400" cy="5964238"/>
          </a:xfrm>
        </p:grpSpPr>
        <p:sp>
          <p:nvSpPr>
            <p:cNvPr id="12" name="Rechteck 11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559803" y="4957735"/>
            <a:ext cx="6480528" cy="359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Edit Text Master Format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9"/>
            <a:ext cx="8187182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1456001" y="5462583"/>
            <a:ext cx="8704000" cy="252417"/>
          </a:xfrm>
          <a:prstGeom prst="rect">
            <a:avLst/>
          </a:prstGeom>
          <a:gradFill flip="none" rotWithShape="1">
            <a:gsLst>
              <a:gs pos="0">
                <a:srgbClr val="696969"/>
              </a:gs>
              <a:gs pos="100000">
                <a:schemeClr val="bg1">
                  <a:lumMod val="85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8"/>
            <a:ext cx="8187181" cy="2524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grpSp>
        <p:nvGrpSpPr>
          <p:cNvPr id="20" name="Gruppieren 19"/>
          <p:cNvGrpSpPr/>
          <p:nvPr/>
        </p:nvGrpSpPr>
        <p:grpSpPr>
          <a:xfrm>
            <a:off x="0" y="5462241"/>
            <a:ext cx="1456000" cy="252416"/>
            <a:chOff x="0" y="898525"/>
            <a:chExt cx="1310400" cy="5964238"/>
          </a:xfrm>
        </p:grpSpPr>
        <p:sp>
          <p:nvSpPr>
            <p:cNvPr id="21" name="Rechteck 20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3" name="Grafik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412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+mj-lt"/>
          <a:ea typeface="ヒラギノ角ゴ Pro W3" charset="0"/>
          <a:cs typeface="ヒラギノ角ゴ Pro W3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5pPr>
      <a:lvl6pPr marL="508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6pPr>
      <a:lvl7pPr marL="1016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7pPr>
      <a:lvl8pPr marL="1524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8pPr>
      <a:lvl9pPr marL="2032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9pPr>
    </p:titleStyle>
    <p:bodyStyle>
      <a:lvl1pPr marL="381000" indent="-381000" algn="l" rtl="0" eaLnBrk="1" fontAlgn="base" hangingPunct="1">
        <a:spcBef>
          <a:spcPct val="20000"/>
        </a:spcBef>
        <a:spcAft>
          <a:spcPct val="0"/>
        </a:spcAft>
        <a:buChar char="•"/>
        <a:defRPr sz="311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1pPr>
      <a:lvl2pPr marL="825500" indent="-317500" algn="l" rtl="0" eaLnBrk="1" fontAlgn="base" hangingPunct="1">
        <a:spcBef>
          <a:spcPct val="20000"/>
        </a:spcBef>
        <a:spcAft>
          <a:spcPct val="0"/>
        </a:spcAft>
        <a:buChar char="–"/>
        <a:defRPr sz="2665">
          <a:solidFill>
            <a:schemeClr val="tx1"/>
          </a:solidFill>
          <a:latin typeface="+mn-lt"/>
          <a:ea typeface="ヒラギノ角ゴ Pro W3" charset="0"/>
        </a:defRPr>
      </a:lvl2pPr>
      <a:lvl3pPr marL="1270000" indent="-254000" algn="l" rtl="0" eaLnBrk="1" fontAlgn="base" hangingPunct="1">
        <a:spcBef>
          <a:spcPct val="20000"/>
        </a:spcBef>
        <a:spcAft>
          <a:spcPct val="0"/>
        </a:spcAft>
        <a:buChar char="•"/>
        <a:defRPr sz="2220">
          <a:solidFill>
            <a:schemeClr val="tx1"/>
          </a:solidFill>
          <a:latin typeface="+mn-lt"/>
          <a:ea typeface="ヒラギノ角ゴ Pro W3" charset="0"/>
        </a:defRPr>
      </a:lvl3pPr>
      <a:lvl4pPr marL="1778000" indent="-2540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charset="0"/>
        </a:defRPr>
      </a:lvl4pPr>
      <a:lvl5pPr marL="2286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charset="0"/>
        </a:defRPr>
      </a:lvl5pPr>
      <a:lvl6pPr marL="2794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302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810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18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2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0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altLang="en-US" sz="2800">
                <a:sym typeface="+mn-ea"/>
              </a:rPr>
              <a:t>HR Onboarding &amp; Employee Lifecycle Using Power Automate</a:t>
            </a:r>
            <a:endParaRPr lang="de-DE" sz="2800" dirty="0" err="1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de-DE" dirty="0">
                <a:ea typeface="ヒラギノ角ゴ Pro W3"/>
              </a:rPr>
              <a:t>Jack</a:t>
            </a:r>
            <a:endParaRPr lang="de-DE" dirty="0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Problem</a:t>
            </a:r>
            <a:endParaRPr lang="en-US" altLang="en-US" sz="2650" b="1">
              <a:solidFill>
                <a:schemeClr val="tx1"/>
              </a:solidFill>
              <a:sym typeface="+mn-ea"/>
            </a:endParaRPr>
          </a:p>
          <a:p>
            <a:endParaRPr lang="en-US" altLang="en-US" sz="265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7040" y="1549400"/>
            <a:ext cx="9185275" cy="1377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Manual onboarding across HR / IT / Line Manager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Disconnected approval process → delays &amp; low visibility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No central tracking for onboarding &amp; probation status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High admin workload (emails, follow-ups, data updates)</a:t>
            </a:r>
            <a:endParaRPr lang="en-US" sz="2000" dirty="0">
              <a:latin typeface="+mn-lt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Solution Overview</a:t>
            </a:r>
            <a:endParaRPr lang="en-US" altLang="en-US" sz="2650" b="1" dirty="0">
              <a:solidFill>
                <a:schemeClr val="tx1"/>
              </a:solidFill>
              <a:cs typeface="Arial" panose="020B0604020202020204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7515" y="1549400"/>
            <a:ext cx="9722485" cy="25698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Built end-to-end HR automation across </a:t>
            </a:r>
            <a:r>
              <a:rPr lang="en-US" altLang="en-US" b="1">
                <a:sym typeface="+mn-ea"/>
              </a:rPr>
              <a:t>3 workflows</a:t>
            </a:r>
            <a:endParaRPr lang="en-US" altLang="en-US" b="1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Digitised </a:t>
            </a:r>
            <a:r>
              <a:rPr lang="en-US" altLang="en-US" b="1">
                <a:sym typeface="+mn-ea"/>
              </a:rPr>
              <a:t>onboarding, review, and probation</a:t>
            </a:r>
            <a:r>
              <a:rPr lang="en-US" altLang="en-US">
                <a:sym typeface="+mn-ea"/>
              </a:rPr>
              <a:t> processes</a:t>
            </a:r>
            <a:endParaRPr lang="en-US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Centralised tracking using SharePoint</a:t>
            </a:r>
            <a:endParaRPr lang="en-US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Automated approvals, notifications, and lifecycle updates</a:t>
            </a:r>
            <a:endParaRPr lang="en-US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Implemented </a:t>
            </a:r>
            <a:r>
              <a:rPr lang="en-US" altLang="en-US" b="1">
                <a:sym typeface="+mn-ea"/>
              </a:rPr>
              <a:t>failure &amp; timeout alerts</a:t>
            </a:r>
            <a:r>
              <a:rPr lang="en-US" altLang="en-US">
                <a:sym typeface="+mn-ea"/>
              </a:rPr>
              <a:t> to maintenance team</a:t>
            </a:r>
            <a:endParaRPr lang="en-US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Enabled </a:t>
            </a:r>
            <a:r>
              <a:rPr lang="en-US" altLang="en-US" b="1">
                <a:sym typeface="+mn-ea"/>
              </a:rPr>
              <a:t>real-time escalation for declined approvals</a:t>
            </a:r>
            <a:r>
              <a:rPr lang="en-US" altLang="en-US">
                <a:sym typeface="+mn-ea"/>
              </a:rPr>
              <a:t> (HR notified with context)</a:t>
            </a:r>
            <a:endParaRPr lang="en-US" altLang="en-US"/>
          </a:p>
          <a:p>
            <a:pPr algn="ctr"/>
            <a:endParaRPr lang="en-US" sz="1600" b="0" i="0" dirty="0" err="1">
              <a:latin typeface="+mn-lt"/>
              <a:cs typeface="Helvetic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Impact</a:t>
            </a:r>
            <a:endParaRPr lang="en-US" altLang="en-US" sz="2650" b="1">
              <a:solidFill>
                <a:schemeClr val="tx1"/>
              </a:solidFill>
            </a:endParaRPr>
          </a:p>
          <a:p>
            <a:endParaRPr lang="en-US" altLang="en-US" sz="2650" b="1" dirty="0">
              <a:solidFill>
                <a:schemeClr val="tx1"/>
              </a:solidFill>
              <a:ea typeface="ヒラギノ角ゴ Pro W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132693" y="1561986"/>
            <a:ext cx="1440255" cy="37721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rPr sz="825"/>
              <a:t>≈ </a:t>
            </a:r>
            <a:r>
              <a:rPr lang="en-US" sz="825"/>
              <a:t>100-11</a:t>
            </a:r>
            <a:r>
              <a:rPr sz="825"/>
              <a:t>0% less effort</a:t>
            </a:r>
            <a:endParaRPr sz="825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44529" y="1562025"/>
          <a:ext cx="5280935" cy="3223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38229" y="2057329"/>
            <a:ext cx="2434717" cy="2983385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10" name="TextBox 6"/>
          <p:cNvSpPr txBox="1"/>
          <p:nvPr/>
        </p:nvSpPr>
        <p:spPr>
          <a:xfrm>
            <a:off x="6343980" y="2263079"/>
            <a:ext cx="887730" cy="252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7280"/>
                </a:solidFill>
                <a:latin typeface="Aptos"/>
              </a:defRPr>
            </a:pPr>
            <a:r>
              <a:rPr sz="1050"/>
              <a:t>Time saved</a:t>
            </a:r>
            <a:endParaRPr sz="1050"/>
          </a:p>
        </p:txBody>
      </p:sp>
      <p:sp>
        <p:nvSpPr>
          <p:cNvPr id="11" name="TextBox 7"/>
          <p:cNvSpPr txBox="1"/>
          <p:nvPr/>
        </p:nvSpPr>
        <p:spPr>
          <a:xfrm>
            <a:off x="6323405" y="2537414"/>
            <a:ext cx="1504950" cy="575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rPr sz="2100"/>
              <a:t>~</a:t>
            </a:r>
            <a:r>
              <a:rPr lang="en-US" sz="2100"/>
              <a:t>10</a:t>
            </a:r>
            <a:r>
              <a:rPr sz="2100"/>
              <a:t>0 mins</a:t>
            </a:r>
            <a:endParaRPr sz="2100"/>
          </a:p>
          <a:p>
            <a:pPr>
              <a:defRPr sz="1400">
                <a:solidFill>
                  <a:srgbClr val="6B7280"/>
                </a:solidFill>
                <a:latin typeface="Aptos"/>
              </a:defRPr>
            </a:pPr>
            <a:r>
              <a:rPr sz="1050"/>
              <a:t>per employee</a:t>
            </a:r>
            <a:endParaRPr sz="1050"/>
          </a:p>
        </p:txBody>
      </p:sp>
      <p:sp>
        <p:nvSpPr>
          <p:cNvPr id="12" name="Rectangle 8"/>
          <p:cNvSpPr/>
          <p:nvPr/>
        </p:nvSpPr>
        <p:spPr>
          <a:xfrm>
            <a:off x="6309689" y="3154666"/>
            <a:ext cx="2091799" cy="685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13" name="TextBox 9"/>
          <p:cNvSpPr txBox="1"/>
          <p:nvPr/>
        </p:nvSpPr>
        <p:spPr>
          <a:xfrm>
            <a:off x="6343980" y="3291833"/>
            <a:ext cx="2023215" cy="10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sz="825"/>
              <a:t>Cuts manual coordination across HR, IT, and managers</a:t>
            </a:r>
            <a:endParaRPr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sz="825"/>
              <a:t>Removes repetitive status updates and follow-ups</a:t>
            </a:r>
            <a:endParaRPr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sz="825"/>
              <a:t>Improves visibility across onboarding and probation stages</a:t>
            </a:r>
            <a:endParaRPr sz="825"/>
          </a:p>
        </p:txBody>
      </p:sp>
      <p:sp>
        <p:nvSpPr>
          <p:cNvPr id="14" name="TextBox 10"/>
          <p:cNvSpPr txBox="1"/>
          <p:nvPr/>
        </p:nvSpPr>
        <p:spPr>
          <a:xfrm>
            <a:off x="548669" y="4845152"/>
            <a:ext cx="2617470" cy="195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rPr sz="675"/>
              <a:t>Estimates based on typical process handling time per employee.</a:t>
            </a:r>
            <a:endParaRPr sz="675"/>
          </a:p>
        </p:txBody>
      </p:sp>
      <p:sp>
        <p:nvSpPr>
          <p:cNvPr id="16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sz="1750">
                <a:sym typeface="+mn-ea"/>
              </a:rPr>
              <a:t>Estimated process effort for HR onboarding and lifecycle management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700" b="1">
                <a:solidFill>
                  <a:schemeClr val="tx1"/>
                </a:solidFill>
                <a:sym typeface="+mn-ea"/>
              </a:rPr>
              <a:t>Flow 1</a:t>
            </a:r>
            <a:endParaRPr lang="en-US" altLang="en-US" sz="27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6661" y="1421803"/>
            <a:ext cx="6828692" cy="1548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chemeClr val="tx1"/>
                </a:solidFill>
                <a:sym typeface="+mn-ea"/>
              </a:rPr>
              <a:t>Trigger: </a:t>
            </a:r>
            <a:r>
              <a:rPr lang="en-US" altLang="en-US">
                <a:sym typeface="+mn-ea"/>
              </a:rPr>
              <a:t>New employee added (SharePoint List)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Auto approval requests (HR / IT / Manager)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Status auto-update → onboarding → first day </a:t>
            </a:r>
            <a:r>
              <a:rPr lang="en-US" altLang="en-US">
                <a:sym typeface="+mn-ea"/>
              </a:rPr>
              <a:t>→</a:t>
            </a:r>
            <a:r>
              <a:rPr lang="en-US" altLang="en-US">
                <a:sym typeface="+mn-ea"/>
              </a:rPr>
              <a:t> probation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Employee info auto-sent + data transferred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6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750">
                <a:sym typeface="+mn-ea"/>
              </a:rPr>
              <a:t>ONBOARDING AUTOMATION</a:t>
            </a:r>
            <a:endParaRPr lang="en-US" sz="1750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2" name="Rounded Rectangle 11"/>
          <p:cNvSpPr/>
          <p:nvPr/>
        </p:nvSpPr>
        <p:spPr>
          <a:xfrm>
            <a:off x="4034790" y="4886325"/>
            <a:ext cx="2620010" cy="5861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3" name="Rounded Rectangle 12"/>
          <p:cNvSpPr/>
          <p:nvPr/>
        </p:nvSpPr>
        <p:spPr>
          <a:xfrm>
            <a:off x="4010660" y="3958590"/>
            <a:ext cx="2621280" cy="79692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4" name="Rounded Rectangle 13"/>
          <p:cNvSpPr/>
          <p:nvPr/>
        </p:nvSpPr>
        <p:spPr>
          <a:xfrm>
            <a:off x="1710055" y="757555"/>
            <a:ext cx="6030595" cy="30276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6" name="Rounded Rectangle 15"/>
          <p:cNvSpPr/>
          <p:nvPr/>
        </p:nvSpPr>
        <p:spPr>
          <a:xfrm>
            <a:off x="1819910" y="1687195"/>
            <a:ext cx="5831205" cy="2007235"/>
          </a:xfrm>
          <a:prstGeom prst="roundRect">
            <a:avLst/>
          </a:prstGeom>
          <a:solidFill>
            <a:srgbClr val="CCEF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7" name="Rounded Rectangle 16"/>
          <p:cNvSpPr/>
          <p:nvPr/>
        </p:nvSpPr>
        <p:spPr>
          <a:xfrm>
            <a:off x="1949450" y="2839720"/>
            <a:ext cx="4471035" cy="811530"/>
          </a:xfrm>
          <a:prstGeom prst="roundRect">
            <a:avLst/>
          </a:prstGeom>
          <a:solidFill>
            <a:srgbClr val="EFEE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8" name="Rectangles 17"/>
          <p:cNvSpPr/>
          <p:nvPr/>
        </p:nvSpPr>
        <p:spPr>
          <a:xfrm>
            <a:off x="4248150" y="701675"/>
            <a:ext cx="2143760" cy="1492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/>
              <a:t>Scope - Try</a:t>
            </a:r>
            <a:endParaRPr lang="en-US" sz="600" strike="noStrike" noProof="1"/>
          </a:p>
        </p:txBody>
      </p:sp>
      <p:sp>
        <p:nvSpPr>
          <p:cNvPr id="19" name="Rectangles 18"/>
          <p:cNvSpPr/>
          <p:nvPr/>
        </p:nvSpPr>
        <p:spPr>
          <a:xfrm>
            <a:off x="4243705" y="3860165"/>
            <a:ext cx="2145030" cy="1492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/>
              <a:t>Scope - Catch</a:t>
            </a:r>
            <a:endParaRPr lang="en-US" sz="600" strike="noStrike" noProof="1"/>
          </a:p>
        </p:txBody>
      </p:sp>
      <p:sp>
        <p:nvSpPr>
          <p:cNvPr id="20" name="Rectangles 19"/>
          <p:cNvSpPr/>
          <p:nvPr/>
        </p:nvSpPr>
        <p:spPr>
          <a:xfrm>
            <a:off x="4248150" y="4820920"/>
            <a:ext cx="2145030" cy="1504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/>
              <a:t>Scope - Finally</a:t>
            </a:r>
            <a:endParaRPr lang="en-US" sz="600" strike="noStrike" noProof="1"/>
          </a:p>
        </p:txBody>
      </p:sp>
      <p:pic>
        <p:nvPicPr>
          <p:cNvPr id="2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0690" y="4824095"/>
            <a:ext cx="200660" cy="147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Rectangles 21"/>
          <p:cNvSpPr/>
          <p:nvPr/>
        </p:nvSpPr>
        <p:spPr>
          <a:xfrm>
            <a:off x="4248150" y="916940"/>
            <a:ext cx="214503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Approval Emails (HR/Line Manager)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248150" y="1139825"/>
            <a:ext cx="214503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Collect Approval Responses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5290185" y="106680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25" name="Down Arrow 24"/>
          <p:cNvSpPr/>
          <p:nvPr/>
        </p:nvSpPr>
        <p:spPr>
          <a:xfrm>
            <a:off x="5290185" y="129667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26" name="Rectangles 25"/>
          <p:cNvSpPr/>
          <p:nvPr/>
        </p:nvSpPr>
        <p:spPr>
          <a:xfrm>
            <a:off x="4248150" y="1379855"/>
            <a:ext cx="2145030" cy="149225"/>
          </a:xfrm>
          <a:prstGeom prst="rect">
            <a:avLst/>
          </a:prstGeom>
          <a:solidFill>
            <a:srgbClr val="CCEF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Condition: All Approved?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116580" y="1841500"/>
            <a:ext cx="2145030" cy="1485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Update Status - First Day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4158615" y="176784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29" name="Down Arrow 28"/>
          <p:cNvSpPr/>
          <p:nvPr/>
        </p:nvSpPr>
        <p:spPr>
          <a:xfrm>
            <a:off x="4158615" y="1997075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30" name="Rectangles 29"/>
          <p:cNvSpPr/>
          <p:nvPr/>
        </p:nvSpPr>
        <p:spPr>
          <a:xfrm>
            <a:off x="3116580" y="2063115"/>
            <a:ext cx="214503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Onboarding info to Employee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3116580" y="2286000"/>
            <a:ext cx="214503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  Send Task Completion Approval (HR/Line Manager)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32" name="Down Arrow 31"/>
          <p:cNvSpPr/>
          <p:nvPr/>
        </p:nvSpPr>
        <p:spPr>
          <a:xfrm>
            <a:off x="4158615" y="221234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33" name="Down Arrow 32"/>
          <p:cNvSpPr/>
          <p:nvPr/>
        </p:nvSpPr>
        <p:spPr>
          <a:xfrm>
            <a:off x="4158615" y="2442845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34" name="Rectangles 33"/>
          <p:cNvSpPr/>
          <p:nvPr/>
        </p:nvSpPr>
        <p:spPr>
          <a:xfrm>
            <a:off x="3116580" y="2527300"/>
            <a:ext cx="2145030" cy="1485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Collect Approvals Responses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997710" y="3207385"/>
            <a:ext cx="214503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Transfer Data to SharePoint List - Probation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36" name="Down Arrow 35"/>
          <p:cNvSpPr/>
          <p:nvPr/>
        </p:nvSpPr>
        <p:spPr>
          <a:xfrm>
            <a:off x="4158615" y="267589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61" name="Down Arrow 60"/>
          <p:cNvSpPr/>
          <p:nvPr/>
        </p:nvSpPr>
        <p:spPr>
          <a:xfrm>
            <a:off x="3037840" y="336423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63" name="Rectangles 62"/>
          <p:cNvSpPr/>
          <p:nvPr/>
        </p:nvSpPr>
        <p:spPr>
          <a:xfrm>
            <a:off x="4243705" y="4083050"/>
            <a:ext cx="214503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Capture Error Details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64" name="Down Arrow 63"/>
          <p:cNvSpPr/>
          <p:nvPr/>
        </p:nvSpPr>
        <p:spPr>
          <a:xfrm>
            <a:off x="5284470" y="400939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65" name="Down Arrow 64"/>
          <p:cNvSpPr/>
          <p:nvPr/>
        </p:nvSpPr>
        <p:spPr>
          <a:xfrm>
            <a:off x="5284470" y="4239895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66" name="Rectangles 65"/>
          <p:cNvSpPr/>
          <p:nvPr/>
        </p:nvSpPr>
        <p:spPr>
          <a:xfrm>
            <a:off x="4243705" y="4324350"/>
            <a:ext cx="2145030" cy="1485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Update Status → Failed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4243705" y="4545965"/>
            <a:ext cx="214503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Failure Email (Maintenance)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68" name="Down Arrow 67"/>
          <p:cNvSpPr/>
          <p:nvPr/>
        </p:nvSpPr>
        <p:spPr>
          <a:xfrm>
            <a:off x="5284470" y="447294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69" name="Down Arrow 68"/>
          <p:cNvSpPr/>
          <p:nvPr/>
        </p:nvSpPr>
        <p:spPr>
          <a:xfrm>
            <a:off x="5290185" y="475488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70" name="Down Arrow 69"/>
          <p:cNvSpPr/>
          <p:nvPr/>
        </p:nvSpPr>
        <p:spPr>
          <a:xfrm>
            <a:off x="5290185" y="4971415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71" name="Rectangles 70"/>
          <p:cNvSpPr/>
          <p:nvPr/>
        </p:nvSpPr>
        <p:spPr>
          <a:xfrm>
            <a:off x="4249420" y="5055870"/>
            <a:ext cx="2143760" cy="1485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Write Audit Log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4249420" y="5277485"/>
            <a:ext cx="214376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Completion Summary Email (HR)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73" name="Down Arrow 72"/>
          <p:cNvSpPr/>
          <p:nvPr/>
        </p:nvSpPr>
        <p:spPr>
          <a:xfrm>
            <a:off x="5290185" y="520446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74" name="Rectangles 73"/>
          <p:cNvSpPr/>
          <p:nvPr/>
        </p:nvSpPr>
        <p:spPr>
          <a:xfrm>
            <a:off x="1997710" y="3430270"/>
            <a:ext cx="214503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Remove Record from </a:t>
            </a:r>
            <a:r>
              <a:rPr lang="en-US" sz="600" strike="noStrike" noProof="1">
                <a:solidFill>
                  <a:schemeClr val="tx1"/>
                </a:solidFill>
                <a:sym typeface="+mn-ea"/>
              </a:rPr>
              <a:t>Sharepoint List - Onboarding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pic>
        <p:nvPicPr>
          <p:cNvPr id="75" name="Picture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135" y="5279390"/>
            <a:ext cx="224790" cy="1485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6" name="Picture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105" y="2529205"/>
            <a:ext cx="213360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" name="Picture 7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565" y="2748915"/>
            <a:ext cx="227330" cy="1485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" name="Rectangles 80"/>
          <p:cNvSpPr/>
          <p:nvPr/>
        </p:nvSpPr>
        <p:spPr>
          <a:xfrm>
            <a:off x="4248150" y="482600"/>
            <a:ext cx="2145030" cy="1485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>
                <a:solidFill>
                  <a:schemeClr val="tx1"/>
                </a:solidFill>
              </a:rPr>
              <a:t> New Employee Added Sharepoint List - Onboarding</a:t>
            </a:r>
            <a:endParaRPr 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82" name="Down Arrow 81"/>
          <p:cNvSpPr/>
          <p:nvPr/>
        </p:nvSpPr>
        <p:spPr>
          <a:xfrm>
            <a:off x="5290185" y="63119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83" name="Down Arrow 82"/>
          <p:cNvSpPr/>
          <p:nvPr/>
        </p:nvSpPr>
        <p:spPr>
          <a:xfrm>
            <a:off x="5290185" y="85090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88" name="Picture 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2235" y="1617345"/>
            <a:ext cx="474345" cy="1504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9" name="Picture 8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655" y="1617345"/>
            <a:ext cx="447675" cy="1504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0" name="Rectangles 89"/>
          <p:cNvSpPr/>
          <p:nvPr/>
        </p:nvSpPr>
        <p:spPr>
          <a:xfrm>
            <a:off x="5453380" y="1848485"/>
            <a:ext cx="2145030" cy="1485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Approval Status Update (HR)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91" name="Down Arrow 90"/>
          <p:cNvSpPr/>
          <p:nvPr/>
        </p:nvSpPr>
        <p:spPr>
          <a:xfrm>
            <a:off x="6495415" y="177546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cxnSp>
        <p:nvCxnSpPr>
          <p:cNvPr id="92" name="Curved Connector 91"/>
          <p:cNvCxnSpPr>
            <a:stCxn id="26" idx="2"/>
            <a:endCxn id="88" idx="0"/>
          </p:cNvCxnSpPr>
          <p:nvPr/>
        </p:nvCxnSpPr>
        <p:spPr>
          <a:xfrm rot="5400000">
            <a:off x="4691063" y="987743"/>
            <a:ext cx="88265" cy="117094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Curved Connector 92"/>
          <p:cNvCxnSpPr>
            <a:stCxn id="26" idx="2"/>
            <a:endCxn id="89" idx="0"/>
          </p:cNvCxnSpPr>
          <p:nvPr/>
        </p:nvCxnSpPr>
        <p:spPr>
          <a:xfrm rot="5400000" flipV="1">
            <a:off x="5856605" y="993140"/>
            <a:ext cx="88265" cy="1160145"/>
          </a:xfrm>
          <a:prstGeom prst="curvedConnector3">
            <a:avLst>
              <a:gd name="adj1" fmla="val 5036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Rectangles 93"/>
          <p:cNvSpPr/>
          <p:nvPr/>
        </p:nvSpPr>
        <p:spPr>
          <a:xfrm>
            <a:off x="3121660" y="2747010"/>
            <a:ext cx="2145030" cy="149225"/>
          </a:xfrm>
          <a:prstGeom prst="rect">
            <a:avLst/>
          </a:prstGeom>
          <a:solidFill>
            <a:srgbClr val="EFEE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Condition: All Approved?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95" name="Down Arrow 94"/>
          <p:cNvSpPr/>
          <p:nvPr/>
        </p:nvSpPr>
        <p:spPr>
          <a:xfrm>
            <a:off x="3032125" y="3133725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380" y="2984500"/>
            <a:ext cx="452120" cy="1504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2070" y="2983865"/>
            <a:ext cx="460375" cy="1504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" name="Down Arrow 109"/>
          <p:cNvSpPr/>
          <p:nvPr/>
        </p:nvSpPr>
        <p:spPr>
          <a:xfrm>
            <a:off x="5369560" y="3141980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cxnSp>
        <p:nvCxnSpPr>
          <p:cNvPr id="111" name="Curved Connector 110"/>
          <p:cNvCxnSpPr>
            <a:stCxn id="94" idx="2"/>
            <a:endCxn id="98" idx="0"/>
          </p:cNvCxnSpPr>
          <p:nvPr/>
        </p:nvCxnSpPr>
        <p:spPr>
          <a:xfrm rot="5400000">
            <a:off x="3559175" y="2349500"/>
            <a:ext cx="88265" cy="1181735"/>
          </a:xfrm>
          <a:prstGeom prst="curvedConnector3">
            <a:avLst>
              <a:gd name="adj1" fmla="val 5036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Curved Connector 111"/>
          <p:cNvCxnSpPr>
            <a:stCxn id="94" idx="2"/>
            <a:endCxn id="99" idx="0"/>
          </p:cNvCxnSpPr>
          <p:nvPr/>
        </p:nvCxnSpPr>
        <p:spPr>
          <a:xfrm rot="5400000" flipV="1">
            <a:off x="4734560" y="2355850"/>
            <a:ext cx="87630" cy="116840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3" name="Rectangles 112"/>
          <p:cNvSpPr/>
          <p:nvPr/>
        </p:nvSpPr>
        <p:spPr>
          <a:xfrm>
            <a:off x="4274820" y="3199765"/>
            <a:ext cx="2145030" cy="1492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Approval Status Update Email (HR)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114" name="Down Arrow 113"/>
          <p:cNvSpPr/>
          <p:nvPr/>
        </p:nvSpPr>
        <p:spPr>
          <a:xfrm>
            <a:off x="5290185" y="3794125"/>
            <a:ext cx="85090" cy="6604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115" name="Picture 10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0690" y="484505"/>
            <a:ext cx="208915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0690" y="703580"/>
            <a:ext cx="200660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0690" y="3860165"/>
            <a:ext cx="200660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Picture 1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690" y="1383030"/>
            <a:ext cx="227330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Picture 1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660" y="2287905"/>
            <a:ext cx="213360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0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690" y="1141730"/>
            <a:ext cx="213360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Picture 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420" y="918845"/>
            <a:ext cx="213360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690" y="4538980"/>
            <a:ext cx="224790" cy="1485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" name="Picture 1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3199765"/>
            <a:ext cx="224790" cy="1485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4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75" y="2065020"/>
            <a:ext cx="224790" cy="1485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" name="Picture 1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650" y="1841500"/>
            <a:ext cx="224790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" name="Picture 1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150" y="4324350"/>
            <a:ext cx="208915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7" name="Picture 1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375" y="1843405"/>
            <a:ext cx="208915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" name="Picture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50" y="4084955"/>
            <a:ext cx="213360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9" name="Picture 1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375" y="2747010"/>
            <a:ext cx="227330" cy="1485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" name="Picture 1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7710" y="3430270"/>
            <a:ext cx="210185" cy="14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1" name="Picture 1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7710" y="3209290"/>
            <a:ext cx="210185" cy="1485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" name="Picture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135" y="5057775"/>
            <a:ext cx="213360" cy="147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4" name="Text Box 133"/>
          <p:cNvSpPr txBox="1"/>
          <p:nvPr/>
        </p:nvSpPr>
        <p:spPr>
          <a:xfrm>
            <a:off x="7112000" y="450977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/>
              <a:t>Workflow diagram recreated for illustration purposes (original system data is confidential).</a:t>
            </a:r>
            <a:endParaRPr lang="en-US" altLang="en-US" sz="1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700" b="1">
                <a:solidFill>
                  <a:schemeClr val="tx1"/>
                </a:solidFill>
                <a:sym typeface="+mn-ea"/>
              </a:rPr>
              <a:t>Flow 2</a:t>
            </a:r>
            <a:endParaRPr lang="en-US" altLang="en-US" sz="27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6661" y="1421803"/>
            <a:ext cx="6828692" cy="1548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b="1">
                <a:sym typeface="+mn-ea"/>
              </a:rPr>
              <a:t>Trigger:</a:t>
            </a:r>
            <a:r>
              <a:rPr lang="en-US" altLang="en-US">
                <a:sym typeface="+mn-ea"/>
              </a:rPr>
              <a:t> Recurrence (Monthly)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Filter: Employees &gt;20 days onboarding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Send review forms → Line Manager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Collect responses → forward to HR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6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750">
                <a:sym typeface="+mn-ea"/>
              </a:rPr>
              <a:t>Monthly review</a:t>
            </a:r>
            <a:endParaRPr lang="en-US" sz="1750" dirty="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4" name="Text Box 133"/>
          <p:cNvSpPr txBox="1"/>
          <p:nvPr/>
        </p:nvSpPr>
        <p:spPr>
          <a:xfrm>
            <a:off x="7112000" y="450977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/>
              <a:t>Workflow diagram recreated for illustration purposes (original system data is confidential).</a:t>
            </a:r>
            <a:endParaRPr lang="en-US" altLang="en-US" sz="1400" b="1"/>
          </a:p>
        </p:txBody>
      </p:sp>
      <p:sp>
        <p:nvSpPr>
          <p:cNvPr id="109" name="Rounded Rectangle 108"/>
          <p:cNvSpPr/>
          <p:nvPr/>
        </p:nvSpPr>
        <p:spPr>
          <a:xfrm>
            <a:off x="3635375" y="4864735"/>
            <a:ext cx="3462655" cy="6000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08" name="Rounded Rectangle 107"/>
          <p:cNvSpPr/>
          <p:nvPr/>
        </p:nvSpPr>
        <p:spPr>
          <a:xfrm>
            <a:off x="3602990" y="3323590"/>
            <a:ext cx="3462655" cy="13233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07" name="Rounded Rectangle 106"/>
          <p:cNvSpPr/>
          <p:nvPr/>
        </p:nvSpPr>
        <p:spPr>
          <a:xfrm>
            <a:off x="3565525" y="960755"/>
            <a:ext cx="3462655" cy="20948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04" name="Rounded Rectangle 103"/>
          <p:cNvSpPr/>
          <p:nvPr/>
        </p:nvSpPr>
        <p:spPr>
          <a:xfrm>
            <a:off x="3698875" y="1731010"/>
            <a:ext cx="3226435" cy="1265555"/>
          </a:xfrm>
          <a:prstGeom prst="roundRect">
            <a:avLst/>
          </a:prstGeom>
          <a:solidFill>
            <a:srgbClr val="EFEE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6" name="Rectangles 5"/>
          <p:cNvSpPr/>
          <p:nvPr/>
        </p:nvSpPr>
        <p:spPr>
          <a:xfrm>
            <a:off x="3903345" y="869315"/>
            <a:ext cx="2827655" cy="2482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/>
              <a:t>Scope - Try</a:t>
            </a:r>
            <a:endParaRPr lang="en-US" sz="600" strike="noStrike" noProof="1"/>
          </a:p>
        </p:txBody>
      </p:sp>
      <p:sp>
        <p:nvSpPr>
          <p:cNvPr id="7" name="Rectangles 6"/>
          <p:cNvSpPr/>
          <p:nvPr/>
        </p:nvSpPr>
        <p:spPr>
          <a:xfrm>
            <a:off x="3910330" y="3161030"/>
            <a:ext cx="2827655" cy="2482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/>
              <a:t>Scope - Catch</a:t>
            </a:r>
            <a:endParaRPr lang="en-US" sz="600" strike="noStrike" noProof="1"/>
          </a:p>
        </p:txBody>
      </p:sp>
      <p:sp>
        <p:nvSpPr>
          <p:cNvPr id="8" name="Rectangles 7"/>
          <p:cNvSpPr/>
          <p:nvPr/>
        </p:nvSpPr>
        <p:spPr>
          <a:xfrm>
            <a:off x="3916045" y="4756785"/>
            <a:ext cx="2829560" cy="2495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/>
              <a:t>Scope - Finally</a:t>
            </a:r>
            <a:endParaRPr lang="en-US" sz="600" strike="noStrike" noProof="1"/>
          </a:p>
        </p:txBody>
      </p:sp>
      <p:pic>
        <p:nvPicPr>
          <p:cNvPr id="6152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9855" y="4761230"/>
            <a:ext cx="264160" cy="246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s 8"/>
          <p:cNvSpPr/>
          <p:nvPr/>
        </p:nvSpPr>
        <p:spPr>
          <a:xfrm>
            <a:off x="3903345" y="1941195"/>
            <a:ext cx="2827655" cy="248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Email Attaching Monthly Review Form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(Corresponding Line Manager)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3903345" y="2311400"/>
            <a:ext cx="2827655" cy="248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Line Manager Completes Review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5276215" y="2189480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37" name="Down Arrow 36"/>
          <p:cNvSpPr/>
          <p:nvPr/>
        </p:nvSpPr>
        <p:spPr>
          <a:xfrm>
            <a:off x="5276215" y="2571750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0" name="Rectangles 49"/>
          <p:cNvSpPr/>
          <p:nvPr/>
        </p:nvSpPr>
        <p:spPr>
          <a:xfrm>
            <a:off x="3910330" y="3530600"/>
            <a:ext cx="2827655" cy="248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Capture Error Details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51" name="Down Arrow 50"/>
          <p:cNvSpPr/>
          <p:nvPr/>
        </p:nvSpPr>
        <p:spPr>
          <a:xfrm>
            <a:off x="5283835" y="3409315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2" name="Down Arrow 51"/>
          <p:cNvSpPr/>
          <p:nvPr/>
        </p:nvSpPr>
        <p:spPr>
          <a:xfrm>
            <a:off x="5283835" y="3790950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3" name="Rectangles 52"/>
          <p:cNvSpPr/>
          <p:nvPr/>
        </p:nvSpPr>
        <p:spPr>
          <a:xfrm>
            <a:off x="3910330" y="3931285"/>
            <a:ext cx="2827655" cy="248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Update Status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→ Failed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3910330" y="4301490"/>
            <a:ext cx="2827655" cy="2463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Failure Email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(Maintenance)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55" name="Down Arrow 54"/>
          <p:cNvSpPr/>
          <p:nvPr/>
        </p:nvSpPr>
        <p:spPr>
          <a:xfrm>
            <a:off x="5283835" y="4179570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6" name="Down Arrow 55"/>
          <p:cNvSpPr/>
          <p:nvPr/>
        </p:nvSpPr>
        <p:spPr>
          <a:xfrm>
            <a:off x="5289550" y="4646930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7" name="Down Arrow 56"/>
          <p:cNvSpPr/>
          <p:nvPr/>
        </p:nvSpPr>
        <p:spPr>
          <a:xfrm>
            <a:off x="5289550" y="5006340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8" name="Rectangles 57"/>
          <p:cNvSpPr/>
          <p:nvPr/>
        </p:nvSpPr>
        <p:spPr>
          <a:xfrm>
            <a:off x="3917950" y="5146675"/>
            <a:ext cx="2827655" cy="248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Write Audit Log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3903345" y="504190"/>
            <a:ext cx="2827655" cy="248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>
                <a:solidFill>
                  <a:schemeClr val="tx1"/>
                </a:solidFill>
              </a:rPr>
              <a:t>Recurrence - Monthly Automatic trigger</a:t>
            </a:r>
            <a:endParaRPr 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78" name="Down Arrow 77"/>
          <p:cNvSpPr/>
          <p:nvPr/>
        </p:nvSpPr>
        <p:spPr>
          <a:xfrm>
            <a:off x="5276215" y="752475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80" name="Down Arrow 79"/>
          <p:cNvSpPr/>
          <p:nvPr/>
        </p:nvSpPr>
        <p:spPr>
          <a:xfrm>
            <a:off x="5276215" y="1117600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84" name="Rectangles 83"/>
          <p:cNvSpPr/>
          <p:nvPr/>
        </p:nvSpPr>
        <p:spPr>
          <a:xfrm>
            <a:off x="3906520" y="2687320"/>
            <a:ext cx="2827655" cy="248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Completed Review Form Email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(HR)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96" name="Rectangles 95"/>
          <p:cNvSpPr/>
          <p:nvPr/>
        </p:nvSpPr>
        <p:spPr>
          <a:xfrm>
            <a:off x="3903345" y="1584960"/>
            <a:ext cx="2827655" cy="246380"/>
          </a:xfrm>
          <a:prstGeom prst="rect">
            <a:avLst/>
          </a:prstGeom>
          <a:solidFill>
            <a:srgbClr val="EFEE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Apply to Each - Employee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  <a:sym typeface="+mn-ea"/>
              </a:rPr>
              <a:t>(Onboard time &gt; 20 Days)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106" name="Down Arrow 105"/>
          <p:cNvSpPr/>
          <p:nvPr/>
        </p:nvSpPr>
        <p:spPr>
          <a:xfrm>
            <a:off x="5276215" y="1831975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6172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6520" y="872490"/>
            <a:ext cx="264160" cy="2451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3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9855" y="3161030"/>
            <a:ext cx="264160" cy="2451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520" y="2314575"/>
            <a:ext cx="281305" cy="2451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5" name="Picture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630" y="4302760"/>
            <a:ext cx="295910" cy="2451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6" name="Picture 1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425" y="2675255"/>
            <a:ext cx="295910" cy="2463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7" name="Picture 1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045" y="3931285"/>
            <a:ext cx="277495" cy="2451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8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045" y="3533775"/>
            <a:ext cx="281305" cy="2463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79" name="Picture 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570" y="5149215"/>
            <a:ext cx="281305" cy="2451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80" name="Picture 6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7630" y="504190"/>
            <a:ext cx="294005" cy="2438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Rectangles 10"/>
          <p:cNvSpPr/>
          <p:nvPr/>
        </p:nvSpPr>
        <p:spPr>
          <a:xfrm>
            <a:off x="3903345" y="1227455"/>
            <a:ext cx="2827655" cy="248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Get Content from Probation List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(Onboard time &gt; 20 Days)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5276215" y="1475105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6183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140" y="1227455"/>
            <a:ext cx="277495" cy="2451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84" name="Picture 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8580" y="1592580"/>
            <a:ext cx="299720" cy="2451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Down Arrow 12"/>
          <p:cNvSpPr/>
          <p:nvPr/>
        </p:nvSpPr>
        <p:spPr>
          <a:xfrm>
            <a:off x="5289550" y="3046730"/>
            <a:ext cx="112395" cy="10985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6186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880" y="1941195"/>
            <a:ext cx="295910" cy="2463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700" b="1">
                <a:solidFill>
                  <a:schemeClr val="tx1"/>
                </a:solidFill>
                <a:sym typeface="+mn-ea"/>
              </a:rPr>
              <a:t>Flow 3</a:t>
            </a:r>
            <a:endParaRPr lang="en-US" altLang="en-US" sz="27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6661" y="1421803"/>
            <a:ext cx="6828692" cy="23234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b="1">
                <a:sym typeface="+mn-ea"/>
              </a:rPr>
              <a:t>Trigger: </a:t>
            </a:r>
            <a:r>
              <a:rPr lang="en-US" altLang="en-US">
                <a:sym typeface="+mn-ea"/>
              </a:rPr>
              <a:t>Recurrence (</a:t>
            </a:r>
            <a:r>
              <a:rPr lang="en-US" altLang="en-US">
                <a:sym typeface="+mn-ea"/>
              </a:rPr>
              <a:t>Daily)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Filter: Employee onboarding time &gt; </a:t>
            </a:r>
            <a:r>
              <a:rPr lang="en-US" altLang="en-US">
                <a:sym typeface="+mn-ea"/>
              </a:rPr>
              <a:t>6 months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Approval Request: HR + Line Manager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Approved → move to Employee Master List;</a:t>
            </a:r>
            <a:endParaRPr lang="en-US" altLang="en-US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en-US">
                <a:sym typeface="+mn-ea"/>
              </a:rPr>
              <a:t>     Declined </a:t>
            </a:r>
            <a:r>
              <a:rPr lang="en-US" altLang="en-US">
                <a:sym typeface="+mn-ea"/>
              </a:rPr>
              <a:t>→ </a:t>
            </a:r>
            <a:r>
              <a:rPr lang="en-US" altLang="en-US">
                <a:sym typeface="+mn-ea"/>
              </a:rPr>
              <a:t>notify HR with context</a:t>
            </a:r>
            <a:endParaRPr lang="en-US" altLang="en-US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en-US">
                <a:sym typeface="+mn-ea"/>
              </a:rPr>
              <a:t>5.  Remove from Probation list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6" name="Text Placeholder 4"/>
          <p:cNvSpPr>
            <a:spLocks noGrp="1"/>
          </p:cNvSpPr>
          <p:nvPr/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rIns="91440" bIns="45720" anchor="t" anchorCtr="0"/>
          <a:lstStyle>
            <a:lvl1pPr marL="0" indent="0" algn="l" rtl="0" eaLnBrk="1" fontAlgn="base" hangingPunct="1">
              <a:spcBef>
                <a:spcPts val="0"/>
              </a:spcBef>
              <a:spcAft>
                <a:spcPct val="0"/>
              </a:spcAft>
              <a:buNone/>
              <a:defRPr sz="1780" cap="all" baseline="0">
                <a:solidFill>
                  <a:srgbClr val="7D001E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825500" indent="-3175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665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20">
                <a:solidFill>
                  <a:schemeClr val="tx1"/>
                </a:solidFill>
                <a:latin typeface="+mn-lt"/>
                <a:ea typeface="ヒラギノ角ゴ Pro W3" charset="0"/>
              </a:defRPr>
            </a:lvl3pPr>
            <a:lvl4pPr marL="177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4pPr>
            <a:lvl5pPr marL="2286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charset="0"/>
              </a:defRPr>
            </a:lvl5pPr>
            <a:lvl6pPr marL="2794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302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810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1800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750">
                <a:sym typeface="+mn-ea"/>
              </a:rPr>
              <a:t>P</a:t>
            </a:r>
            <a:r>
              <a:rPr lang="en-US" sz="1750">
                <a:sym typeface="+mn-ea"/>
              </a:rPr>
              <a:t>robation approval</a:t>
            </a:r>
            <a:endParaRPr lang="en-US" sz="175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4" name="Text Box 133"/>
          <p:cNvSpPr txBox="1"/>
          <p:nvPr/>
        </p:nvSpPr>
        <p:spPr>
          <a:xfrm>
            <a:off x="7112000" y="450977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/>
              <a:t>Workflow diagram recreated for illustration purposes (original system data is confidential).</a:t>
            </a:r>
            <a:endParaRPr lang="en-US" altLang="en-US" sz="1400" b="1"/>
          </a:p>
        </p:txBody>
      </p:sp>
      <p:sp>
        <p:nvSpPr>
          <p:cNvPr id="109" name="Rounded Rectangle 108"/>
          <p:cNvSpPr/>
          <p:nvPr/>
        </p:nvSpPr>
        <p:spPr>
          <a:xfrm>
            <a:off x="4062095" y="4681855"/>
            <a:ext cx="2019300" cy="7232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08" name="Rounded Rectangle 107"/>
          <p:cNvSpPr/>
          <p:nvPr/>
        </p:nvSpPr>
        <p:spPr>
          <a:xfrm>
            <a:off x="4043680" y="3533775"/>
            <a:ext cx="2019300" cy="98488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07" name="Rounded Rectangle 106"/>
          <p:cNvSpPr/>
          <p:nvPr/>
        </p:nvSpPr>
        <p:spPr>
          <a:xfrm>
            <a:off x="3192145" y="789940"/>
            <a:ext cx="3775710" cy="25393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04" name="Rounded Rectangle 103"/>
          <p:cNvSpPr/>
          <p:nvPr/>
        </p:nvSpPr>
        <p:spPr>
          <a:xfrm>
            <a:off x="3257550" y="1363345"/>
            <a:ext cx="3657600" cy="1907540"/>
          </a:xfrm>
          <a:prstGeom prst="roundRect">
            <a:avLst/>
          </a:prstGeom>
          <a:solidFill>
            <a:srgbClr val="EFEE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105" name="Rounded Rectangle 104"/>
          <p:cNvSpPr/>
          <p:nvPr/>
        </p:nvSpPr>
        <p:spPr>
          <a:xfrm>
            <a:off x="3315335" y="2211070"/>
            <a:ext cx="3543300" cy="967740"/>
          </a:xfrm>
          <a:prstGeom prst="roundRect">
            <a:avLst/>
          </a:prstGeom>
          <a:solidFill>
            <a:srgbClr val="CCEF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6" name="Rectangles 5"/>
          <p:cNvSpPr/>
          <p:nvPr/>
        </p:nvSpPr>
        <p:spPr>
          <a:xfrm>
            <a:off x="4237355" y="721995"/>
            <a:ext cx="1652270" cy="1847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/>
              <a:t>Scope - Try</a:t>
            </a:r>
            <a:endParaRPr lang="en-US" sz="600" strike="noStrike" noProof="1"/>
          </a:p>
        </p:txBody>
      </p:sp>
      <p:sp>
        <p:nvSpPr>
          <p:cNvPr id="7" name="Rectangles 6"/>
          <p:cNvSpPr/>
          <p:nvPr/>
        </p:nvSpPr>
        <p:spPr>
          <a:xfrm>
            <a:off x="4223385" y="3412490"/>
            <a:ext cx="1653540" cy="1860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/>
              <a:t>Scope - Catch</a:t>
            </a:r>
            <a:endParaRPr lang="en-US" sz="600" strike="noStrike" noProof="1"/>
          </a:p>
        </p:txBody>
      </p:sp>
      <p:sp>
        <p:nvSpPr>
          <p:cNvPr id="8" name="Rectangles 7"/>
          <p:cNvSpPr/>
          <p:nvPr/>
        </p:nvSpPr>
        <p:spPr>
          <a:xfrm>
            <a:off x="4226560" y="4599940"/>
            <a:ext cx="1653540" cy="186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/>
              <a:t>Scope - Finally</a:t>
            </a:r>
            <a:endParaRPr lang="en-US" sz="600" strike="noStrike" noProof="1"/>
          </a:p>
        </p:txBody>
      </p:sp>
      <p:pic>
        <p:nvPicPr>
          <p:cNvPr id="7177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4604385"/>
            <a:ext cx="154305" cy="1822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s 8"/>
          <p:cNvSpPr/>
          <p:nvPr/>
        </p:nvSpPr>
        <p:spPr>
          <a:xfrm>
            <a:off x="4237355" y="1519555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Approval Emails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(HR/Line Manager)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237355" y="1795145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Collect Approval Responses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5039995" y="170434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37" name="Down Arrow 36"/>
          <p:cNvSpPr/>
          <p:nvPr/>
        </p:nvSpPr>
        <p:spPr>
          <a:xfrm>
            <a:off x="5039995" y="198882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38" name="Rectangles 37"/>
          <p:cNvSpPr/>
          <p:nvPr/>
        </p:nvSpPr>
        <p:spPr>
          <a:xfrm>
            <a:off x="4237355" y="2093595"/>
            <a:ext cx="1652270" cy="183515"/>
          </a:xfrm>
          <a:prstGeom prst="rect">
            <a:avLst/>
          </a:prstGeom>
          <a:solidFill>
            <a:srgbClr val="CCEF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Condition -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All Approved?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366135" y="2661920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  <a:sym typeface="+mn-ea"/>
              </a:rPr>
              <a:t>Transfer Data to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  <a:sym typeface="+mn-ea"/>
              </a:rPr>
              <a:t>SharePoint List - Employee Mastersheet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40" name="Down Arrow 39"/>
          <p:cNvSpPr/>
          <p:nvPr/>
        </p:nvSpPr>
        <p:spPr>
          <a:xfrm>
            <a:off x="4168775" y="257175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41" name="Down Arrow 40"/>
          <p:cNvSpPr/>
          <p:nvPr/>
        </p:nvSpPr>
        <p:spPr>
          <a:xfrm>
            <a:off x="4168775" y="285623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42" name="Rectangles 41"/>
          <p:cNvSpPr/>
          <p:nvPr/>
        </p:nvSpPr>
        <p:spPr>
          <a:xfrm>
            <a:off x="3366135" y="2937510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  <a:sym typeface="+mn-ea"/>
              </a:rPr>
              <a:t>Remove Record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  <a:sym typeface="+mn-ea"/>
              </a:rPr>
              <a:t>from Probation List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4223385" y="3687445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Capture Error Details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51" name="Down Arrow 50"/>
          <p:cNvSpPr/>
          <p:nvPr/>
        </p:nvSpPr>
        <p:spPr>
          <a:xfrm>
            <a:off x="5026025" y="3598545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2" name="Down Arrow 51"/>
          <p:cNvSpPr/>
          <p:nvPr/>
        </p:nvSpPr>
        <p:spPr>
          <a:xfrm>
            <a:off x="5026025" y="3881755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3" name="Rectangles 52"/>
          <p:cNvSpPr/>
          <p:nvPr/>
        </p:nvSpPr>
        <p:spPr>
          <a:xfrm>
            <a:off x="4223385" y="3985895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Update Status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→ Failed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4223385" y="4261485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Failure Email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(Maintenance)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55" name="Down Arrow 54"/>
          <p:cNvSpPr/>
          <p:nvPr/>
        </p:nvSpPr>
        <p:spPr>
          <a:xfrm>
            <a:off x="5026025" y="417068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6" name="Down Arrow 55"/>
          <p:cNvSpPr/>
          <p:nvPr/>
        </p:nvSpPr>
        <p:spPr>
          <a:xfrm>
            <a:off x="5029200" y="451866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7" name="Down Arrow 56"/>
          <p:cNvSpPr/>
          <p:nvPr/>
        </p:nvSpPr>
        <p:spPr>
          <a:xfrm>
            <a:off x="5029200" y="4785995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58" name="Rectangles 57"/>
          <p:cNvSpPr/>
          <p:nvPr/>
        </p:nvSpPr>
        <p:spPr>
          <a:xfrm>
            <a:off x="4227830" y="4890135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Write Audit Log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4227830" y="5165725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Completion Summary Email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(HR)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60" name="Down Arrow 59"/>
          <p:cNvSpPr/>
          <p:nvPr/>
        </p:nvSpPr>
        <p:spPr>
          <a:xfrm>
            <a:off x="5029200" y="507492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7198" name="Picture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275" y="5167630"/>
            <a:ext cx="172720" cy="1822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" name="Rectangles 76"/>
          <p:cNvSpPr/>
          <p:nvPr/>
        </p:nvSpPr>
        <p:spPr>
          <a:xfrm>
            <a:off x="4237355" y="450215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sz="600" strike="noStrike" noProof="1">
                <a:solidFill>
                  <a:schemeClr val="tx1"/>
                </a:solidFill>
              </a:rPr>
              <a:t>Recurrence - Daily Automatic trigger</a:t>
            </a:r>
            <a:endParaRPr 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78" name="Down Arrow 77"/>
          <p:cNvSpPr/>
          <p:nvPr/>
        </p:nvSpPr>
        <p:spPr>
          <a:xfrm>
            <a:off x="5039995" y="63500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sp>
        <p:nvSpPr>
          <p:cNvPr id="80" name="Down Arrow 79"/>
          <p:cNvSpPr/>
          <p:nvPr/>
        </p:nvSpPr>
        <p:spPr>
          <a:xfrm>
            <a:off x="5039995" y="90678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7202" name="Picture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910" y="2385695"/>
            <a:ext cx="426085" cy="1860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03" name="Picture 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850" y="2385695"/>
            <a:ext cx="427990" cy="1860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" name="Rectangles 83"/>
          <p:cNvSpPr/>
          <p:nvPr/>
        </p:nvSpPr>
        <p:spPr>
          <a:xfrm>
            <a:off x="5166360" y="2671445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Send Approval Status Update Email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(HR)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85" name="Down Arrow 84"/>
          <p:cNvSpPr/>
          <p:nvPr/>
        </p:nvSpPr>
        <p:spPr>
          <a:xfrm>
            <a:off x="5969000" y="258064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cxnSp>
        <p:nvCxnSpPr>
          <p:cNvPr id="86" name="Curved Connector 85"/>
          <p:cNvCxnSpPr>
            <a:stCxn id="38" idx="2"/>
            <a:endCxn id="7202" idx="0"/>
          </p:cNvCxnSpPr>
          <p:nvPr/>
        </p:nvCxnSpPr>
        <p:spPr>
          <a:xfrm rot="5400000">
            <a:off x="4573270" y="1896110"/>
            <a:ext cx="108585" cy="8705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Curved Connector 86"/>
          <p:cNvCxnSpPr>
            <a:stCxn id="38" idx="2"/>
            <a:endCxn id="7203" idx="0"/>
          </p:cNvCxnSpPr>
          <p:nvPr/>
        </p:nvCxnSpPr>
        <p:spPr>
          <a:xfrm rot="5400000" flipV="1">
            <a:off x="5477510" y="1863725"/>
            <a:ext cx="107950" cy="93599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6" name="Rectangles 95"/>
          <p:cNvSpPr/>
          <p:nvPr/>
        </p:nvSpPr>
        <p:spPr>
          <a:xfrm>
            <a:off x="4237355" y="1254760"/>
            <a:ext cx="1652270" cy="183515"/>
          </a:xfrm>
          <a:prstGeom prst="rect">
            <a:avLst/>
          </a:prstGeom>
          <a:solidFill>
            <a:srgbClr val="EFEEC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Apply to Each - Employee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  <a:sym typeface="+mn-ea"/>
              </a:rPr>
              <a:t>(Onboard time &gt; 6 months)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106" name="Down Arrow 105"/>
          <p:cNvSpPr/>
          <p:nvPr/>
        </p:nvSpPr>
        <p:spPr>
          <a:xfrm>
            <a:off x="5039995" y="1438275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7210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9895" y="724535"/>
            <a:ext cx="154305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3412490"/>
            <a:ext cx="154305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2" name="Picture 1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895" y="2095500"/>
            <a:ext cx="175260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3" name="Picture 1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9895" y="1797685"/>
            <a:ext cx="164465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4" name="Picture 1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625" y="1522095"/>
            <a:ext cx="164465" cy="1835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5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480" y="4262120"/>
            <a:ext cx="172720" cy="1835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6" name="Picture 1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995" y="2661920"/>
            <a:ext cx="172720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7" name="Picture 1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6560" y="3985895"/>
            <a:ext cx="161925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8" name="Picture 1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5025" y="2664460"/>
            <a:ext cx="160655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19" name="Picture 1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560" y="3691255"/>
            <a:ext cx="164465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20" name="Picture 1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275" y="4892675"/>
            <a:ext cx="164465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21" name="Picture 6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4180" y="450215"/>
            <a:ext cx="172085" cy="181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Rectangles 10"/>
          <p:cNvSpPr/>
          <p:nvPr/>
        </p:nvSpPr>
        <p:spPr>
          <a:xfrm>
            <a:off x="4237355" y="988060"/>
            <a:ext cx="1652270" cy="1847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Get Content from Probation List</a:t>
            </a:r>
            <a:endParaRPr lang="en-US" altLang="en-US" sz="600" strike="noStrike" noProof="1">
              <a:solidFill>
                <a:schemeClr val="tx1"/>
              </a:solidFill>
            </a:endParaRPr>
          </a:p>
          <a:p>
            <a:pPr algn="ctr" fontAlgn="base"/>
            <a:r>
              <a:rPr lang="en-US" altLang="en-US" sz="600" strike="noStrike" noProof="1">
                <a:solidFill>
                  <a:schemeClr val="tx1"/>
                </a:solidFill>
              </a:rPr>
              <a:t>(Onboard time &gt; 6 months)</a:t>
            </a:r>
            <a:endParaRPr lang="en-US" altLang="en-US" sz="600" strike="noStrike" noProof="1">
              <a:solidFill>
                <a:schemeClr val="tx1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5039995" y="1172845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  <p:pic>
        <p:nvPicPr>
          <p:cNvPr id="7224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340" y="988060"/>
            <a:ext cx="161925" cy="182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25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5025" y="2938780"/>
            <a:ext cx="160655" cy="1835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26" name="Picture 7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385" y="1260475"/>
            <a:ext cx="175260" cy="1822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Down Arrow 12"/>
          <p:cNvSpPr/>
          <p:nvPr/>
        </p:nvSpPr>
        <p:spPr>
          <a:xfrm>
            <a:off x="5008245" y="3327400"/>
            <a:ext cx="65405" cy="8128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en-US" sz="600" strike="noStrike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svorlage 2014 (16-10)">
  <a:themeElements>
    <a:clrScheme name="EHK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C2332"/>
      </a:accent1>
      <a:accent2>
        <a:srgbClr val="D20A28"/>
      </a:accent2>
      <a:accent3>
        <a:srgbClr val="F07249"/>
      </a:accent3>
      <a:accent4>
        <a:srgbClr val="969696"/>
      </a:accent4>
      <a:accent5>
        <a:srgbClr val="5A5A5A"/>
      </a:accent5>
      <a:accent6>
        <a:srgbClr val="282828"/>
      </a:accent6>
      <a:hlink>
        <a:srgbClr val="FBE0BD"/>
      </a:hlink>
      <a:folHlink>
        <a:srgbClr val="BFBFBF"/>
      </a:folHlink>
    </a:clrScheme>
    <a:fontScheme name="Haefele_Praesentationsvorlage_10_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600" b="0" i="0" dirty="0" err="1" smtClean="0">
            <a:latin typeface="+mn-lt"/>
            <a:cs typeface="Helvetica Light"/>
          </a:defRPr>
        </a:defPPr>
      </a:lstStyle>
    </a:txDef>
  </a:objectDefaults>
  <a:extraClrSchemeLst>
    <a:extraClrScheme>
      <a:clrScheme name="Haefele_Praesentationsvorlage_10_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 2014 (16-10)</Template>
  <TotalTime>0</TotalTime>
  <Words>3408</Words>
  <Application>WPS Presentation</Application>
  <PresentationFormat>Custom</PresentationFormat>
  <Paragraphs>229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ヒラギノ角ゴ Pro W3</vt:lpstr>
      <vt:lpstr>Yu Gothic</vt:lpstr>
      <vt:lpstr>Helvetica Light</vt:lpstr>
      <vt:lpstr>ヒラギノ角ゴ Pro W3</vt:lpstr>
      <vt:lpstr>Segoe Print</vt:lpstr>
      <vt:lpstr>Symbol</vt:lpstr>
      <vt:lpstr>ヒラギノ角ゴ Pro W3</vt:lpstr>
      <vt:lpstr>Arial</vt:lpstr>
      <vt:lpstr>Arial,Sans-Serif</vt:lpstr>
      <vt:lpstr>微软雅黑</vt:lpstr>
      <vt:lpstr>Arial Unicode MS</vt:lpstr>
      <vt:lpstr>Aptos</vt:lpstr>
      <vt:lpstr>Segoe UI</vt:lpstr>
      <vt:lpstr>Präsentationsvorlage 2014 (16-10)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Häfele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Bernd Schatz</dc:creator>
  <cp:lastModifiedBy>jack cheng</cp:lastModifiedBy>
  <cp:revision>450</cp:revision>
  <cp:lastPrinted>2013-02-14T10:02:00Z</cp:lastPrinted>
  <dcterms:created xsi:type="dcterms:W3CDTF">2015-04-09T13:40:00Z</dcterms:created>
  <dcterms:modified xsi:type="dcterms:W3CDTF">2026-04-08T01:04:02Z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ICV">
    <vt:lpwstr>CEF1F9C9BC544D5B8D2CE9C83D014845_12</vt:lpwstr>
  </property>
  <property fmtid="{D5CDD505-2E9C-101B-9397-08002B2CF9AE}" pid="4" name="KSOProductBuildVer">
    <vt:lpwstr>1033-12.2.0.23196</vt:lpwstr>
  </property>
</Properties>
</file>